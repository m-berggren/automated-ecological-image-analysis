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3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1703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717b49e24_0_8:notes"/>
          <p:cNvSpPr/>
          <p:nvPr>
            <p:ph idx="2" type="sldImg"/>
          </p:nvPr>
        </p:nvSpPr>
        <p:spPr>
          <a:xfrm>
            <a:off x="221703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717b49e2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d374db02d_0_32:notes"/>
          <p:cNvSpPr/>
          <p:nvPr>
            <p:ph idx="2" type="sldImg"/>
          </p:nvPr>
        </p:nvSpPr>
        <p:spPr>
          <a:xfrm>
            <a:off x="221703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d374db02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17b49e24_0_24:notes"/>
          <p:cNvSpPr/>
          <p:nvPr>
            <p:ph idx="2" type="sldImg"/>
          </p:nvPr>
        </p:nvSpPr>
        <p:spPr>
          <a:xfrm>
            <a:off x="221703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717b49e2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5891409"/>
            <a:ext cx="7044600" cy="16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4471058"/>
            <a:ext cx="7044600" cy="17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1154948"/>
            <a:ext cx="2321700" cy="15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2888617"/>
            <a:ext cx="2321700" cy="6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935745"/>
            <a:ext cx="5264700" cy="850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8794266"/>
            <a:ext cx="4959600" cy="12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2299346"/>
            <a:ext cx="7044600" cy="40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6950" y="673450"/>
            <a:ext cx="3748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</a:rPr>
              <a:t>Seed module</a:t>
            </a:r>
            <a:endParaRPr b="1" sz="30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66950" y="1912475"/>
            <a:ext cx="6388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Select a </a:t>
            </a:r>
            <a:r>
              <a:rPr b="1" lang="en">
                <a:solidFill>
                  <a:schemeClr val="dk2"/>
                </a:solidFill>
              </a:rPr>
              <a:t>seed type </a:t>
            </a:r>
            <a:r>
              <a:rPr b="1" lang="en">
                <a:solidFill>
                  <a:srgbClr val="FF9900"/>
                </a:solidFill>
              </a:rPr>
              <a:t>(1)</a:t>
            </a:r>
            <a:r>
              <a:rPr lang="en">
                <a:solidFill>
                  <a:schemeClr val="dk2"/>
                </a:solidFill>
              </a:rPr>
              <a:t>, upload </a:t>
            </a:r>
            <a:r>
              <a:rPr b="1" lang="en">
                <a:solidFill>
                  <a:schemeClr val="dk2"/>
                </a:solidFill>
              </a:rPr>
              <a:t>the training images</a:t>
            </a:r>
            <a:r>
              <a:rPr lang="en">
                <a:solidFill>
                  <a:schemeClr val="dk2"/>
                </a:solidFill>
              </a:rPr>
              <a:t> and their corresponding </a:t>
            </a:r>
            <a:r>
              <a:rPr b="1" lang="en">
                <a:solidFill>
                  <a:schemeClr val="dk2"/>
                </a:solidFill>
              </a:rPr>
              <a:t>YOLO annotation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b="1" lang="en">
                <a:solidFill>
                  <a:schemeClr val="dk2"/>
                </a:solidFill>
              </a:rPr>
              <a:t>files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dk2"/>
                </a:solidFill>
              </a:rPr>
              <a:t>(.txt). Configure the training parameters in </a:t>
            </a:r>
            <a:r>
              <a:rPr b="1" lang="en">
                <a:solidFill>
                  <a:srgbClr val="FF9900"/>
                </a:solidFill>
              </a:rPr>
              <a:t>(2) </a:t>
            </a:r>
            <a:r>
              <a:rPr lang="en">
                <a:solidFill>
                  <a:schemeClr val="dk2"/>
                </a:solidFill>
              </a:rPr>
              <a:t>as needed. A </a:t>
            </a:r>
            <a:r>
              <a:rPr lang="en">
                <a:solidFill>
                  <a:schemeClr val="dk2"/>
                </a:solidFill>
              </a:rPr>
              <a:t>higher epoch count generally improves model performance but increases training time</a:t>
            </a:r>
            <a:r>
              <a:rPr lang="en">
                <a:solidFill>
                  <a:schemeClr val="dk2"/>
                </a:solidFill>
              </a:rPr>
              <a:t>. Afterwards,</a:t>
            </a:r>
            <a:r>
              <a:rPr lang="en">
                <a:solidFill>
                  <a:schemeClr val="dk2"/>
                </a:solidFill>
              </a:rPr>
              <a:t> click </a:t>
            </a:r>
            <a:r>
              <a:rPr b="1" lang="en">
                <a:solidFill>
                  <a:schemeClr val="dk2"/>
                </a:solidFill>
              </a:rPr>
              <a:t>Start Training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b="1" lang="en">
                <a:solidFill>
                  <a:srgbClr val="FF9900"/>
                </a:solidFill>
              </a:rPr>
              <a:t>(3)</a:t>
            </a:r>
            <a:r>
              <a:rPr lang="en">
                <a:solidFill>
                  <a:schemeClr val="dk2"/>
                </a:solidFill>
              </a:rPr>
              <a:t>.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66950" y="1349375"/>
            <a:ext cx="47496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Training a model from scratch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3" title="Screenshot 2026-06-02 at 22.14.14.png"/>
          <p:cNvPicPr preferRelativeResize="0"/>
          <p:nvPr/>
        </p:nvPicPr>
        <p:blipFill rotWithShape="1">
          <a:blip r:embed="rId3">
            <a:alphaModFix/>
          </a:blip>
          <a:srcRect b="41558" l="16483" r="4346" t="0"/>
          <a:stretch/>
        </p:blipFill>
        <p:spPr>
          <a:xfrm>
            <a:off x="466950" y="3154050"/>
            <a:ext cx="6388500" cy="2576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Screenshot 2026-06-02 at 22.18.29.png"/>
          <p:cNvPicPr preferRelativeResize="0"/>
          <p:nvPr/>
        </p:nvPicPr>
        <p:blipFill rotWithShape="1">
          <a:blip r:embed="rId4">
            <a:alphaModFix/>
          </a:blip>
          <a:srcRect b="1840" l="16457" r="5327" t="10100"/>
          <a:stretch/>
        </p:blipFill>
        <p:spPr>
          <a:xfrm>
            <a:off x="466950" y="5961075"/>
            <a:ext cx="6388500" cy="38548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2184762" y="8908279"/>
            <a:ext cx="313200" cy="3249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52750" lIns="52750" spcFirstLastPara="1" rIns="52750" wrap="square" tIns="5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8"/>
              <a:t>2</a:t>
            </a:r>
            <a:endParaRPr sz="808"/>
          </a:p>
        </p:txBody>
      </p:sp>
      <p:sp>
        <p:nvSpPr>
          <p:cNvPr id="61" name="Google Shape;61;p13"/>
          <p:cNvSpPr/>
          <p:nvPr/>
        </p:nvSpPr>
        <p:spPr>
          <a:xfrm>
            <a:off x="2135250" y="8855650"/>
            <a:ext cx="412200" cy="430200"/>
          </a:xfrm>
          <a:prstGeom prst="donut">
            <a:avLst>
              <a:gd fmla="val 669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52750" lIns="52750" spcFirstLastPara="1" rIns="52750" wrap="square" tIns="5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8"/>
          </a:p>
        </p:txBody>
      </p:sp>
      <p:sp>
        <p:nvSpPr>
          <p:cNvPr id="62" name="Google Shape;62;p13"/>
          <p:cNvSpPr/>
          <p:nvPr/>
        </p:nvSpPr>
        <p:spPr>
          <a:xfrm>
            <a:off x="2033650" y="4986400"/>
            <a:ext cx="358200" cy="359700"/>
          </a:xfrm>
          <a:prstGeom prst="donut">
            <a:avLst>
              <a:gd fmla="val 669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52750" lIns="52750" spcFirstLastPara="1" rIns="52750" wrap="square" tIns="5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8"/>
          </a:p>
        </p:txBody>
      </p:sp>
      <p:sp>
        <p:nvSpPr>
          <p:cNvPr id="63" name="Google Shape;63;p13"/>
          <p:cNvSpPr/>
          <p:nvPr/>
        </p:nvSpPr>
        <p:spPr>
          <a:xfrm>
            <a:off x="2067551" y="5020900"/>
            <a:ext cx="290400" cy="2907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52750" lIns="52750" spcFirstLastPara="1" rIns="52750" wrap="square" tIns="5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8"/>
              <a:t>1</a:t>
            </a:r>
            <a:endParaRPr sz="808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9300" y="9138325"/>
            <a:ext cx="494600" cy="49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 title="Screenshot 2026-06-02 at 22.32.52.png"/>
          <p:cNvPicPr preferRelativeResize="0"/>
          <p:nvPr/>
        </p:nvPicPr>
        <p:blipFill rotWithShape="1">
          <a:blip r:embed="rId3">
            <a:alphaModFix/>
          </a:blip>
          <a:srcRect b="38804" l="16320" r="5555" t="0"/>
          <a:stretch/>
        </p:blipFill>
        <p:spPr>
          <a:xfrm>
            <a:off x="421750" y="5882412"/>
            <a:ext cx="6581299" cy="281643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569088" y="733100"/>
            <a:ext cx="6421800" cy="1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 order to </a:t>
            </a:r>
            <a:r>
              <a:rPr b="1" lang="en">
                <a:solidFill>
                  <a:schemeClr val="dk2"/>
                </a:solidFill>
              </a:rPr>
              <a:t>cancel</a:t>
            </a:r>
            <a:r>
              <a:rPr lang="en">
                <a:solidFill>
                  <a:schemeClr val="dk2"/>
                </a:solidFill>
              </a:rPr>
              <a:t> a running job, press </a:t>
            </a:r>
            <a:r>
              <a:rPr b="1" lang="en">
                <a:solidFill>
                  <a:srgbClr val="FF9900"/>
                </a:solidFill>
              </a:rPr>
              <a:t>(4)</a:t>
            </a:r>
            <a:r>
              <a:rPr lang="en">
                <a:solidFill>
                  <a:schemeClr val="dk2"/>
                </a:solidFill>
              </a:rPr>
              <a:t>.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14" title="Screenshot 2026-06-02 at 22.28.12.png"/>
          <p:cNvPicPr preferRelativeResize="0"/>
          <p:nvPr/>
        </p:nvPicPr>
        <p:blipFill rotWithShape="1">
          <a:blip r:embed="rId4">
            <a:alphaModFix/>
          </a:blip>
          <a:srcRect b="29338" l="23008" r="7461" t="37290"/>
          <a:stretch/>
        </p:blipFill>
        <p:spPr>
          <a:xfrm>
            <a:off x="423500" y="1373725"/>
            <a:ext cx="6713001" cy="176032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/>
          <p:nvPr/>
        </p:nvSpPr>
        <p:spPr>
          <a:xfrm>
            <a:off x="5583927" y="2039814"/>
            <a:ext cx="207300" cy="2151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900" lIns="34900" spcFirstLastPara="1" rIns="34900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34"/>
              <a:t>4</a:t>
            </a:r>
            <a:endParaRPr sz="534"/>
          </a:p>
        </p:txBody>
      </p:sp>
      <p:sp>
        <p:nvSpPr>
          <p:cNvPr id="74" name="Google Shape;74;p14"/>
          <p:cNvSpPr/>
          <p:nvPr/>
        </p:nvSpPr>
        <p:spPr>
          <a:xfrm>
            <a:off x="5551075" y="2005025"/>
            <a:ext cx="273000" cy="284700"/>
          </a:xfrm>
          <a:prstGeom prst="donut">
            <a:avLst>
              <a:gd fmla="val 669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34900" lIns="34900" spcFirstLastPara="1" rIns="34900" wrap="square" tIns="3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4"/>
          </a:p>
        </p:txBody>
      </p:sp>
      <p:sp>
        <p:nvSpPr>
          <p:cNvPr id="75" name="Google Shape;75;p14"/>
          <p:cNvSpPr txBox="1"/>
          <p:nvPr/>
        </p:nvSpPr>
        <p:spPr>
          <a:xfrm>
            <a:off x="518150" y="3903675"/>
            <a:ext cx="47496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Retrain</a:t>
            </a:r>
            <a:r>
              <a:rPr lang="en" sz="2500">
                <a:solidFill>
                  <a:schemeClr val="dk2"/>
                </a:solidFill>
              </a:rPr>
              <a:t> an existing model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3324675" y="8229050"/>
            <a:ext cx="382200" cy="3693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3279825" y="8180150"/>
            <a:ext cx="471900" cy="467100"/>
          </a:xfrm>
          <a:prstGeom prst="donut">
            <a:avLst>
              <a:gd fmla="val 669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518150" y="4730400"/>
            <a:ext cx="638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Select a </a:t>
            </a:r>
            <a:r>
              <a:rPr b="1" lang="en">
                <a:solidFill>
                  <a:schemeClr val="dk2"/>
                </a:solidFill>
              </a:rPr>
              <a:t>model version </a:t>
            </a:r>
            <a:r>
              <a:rPr lang="en">
                <a:solidFill>
                  <a:schemeClr val="dk2"/>
                </a:solidFill>
              </a:rPr>
              <a:t>from the list to fine-tune </a:t>
            </a:r>
            <a:r>
              <a:rPr b="1" lang="en">
                <a:solidFill>
                  <a:srgbClr val="FF9900"/>
                </a:solidFill>
              </a:rPr>
              <a:t>(5)</a:t>
            </a:r>
            <a:r>
              <a:rPr lang="en">
                <a:solidFill>
                  <a:schemeClr val="dk2"/>
                </a:solidFill>
              </a:rPr>
              <a:t>. O</a:t>
            </a:r>
            <a:r>
              <a:rPr lang="en">
                <a:solidFill>
                  <a:schemeClr val="dk2"/>
                </a:solidFill>
              </a:rPr>
              <a:t>nly the </a:t>
            </a:r>
            <a:r>
              <a:rPr b="1" lang="en">
                <a:solidFill>
                  <a:schemeClr val="dk2"/>
                </a:solidFill>
              </a:rPr>
              <a:t>active</a:t>
            </a:r>
            <a:r>
              <a:rPr lang="en">
                <a:solidFill>
                  <a:schemeClr val="dk2"/>
                </a:solidFill>
              </a:rPr>
              <a:t> model version for each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dk2"/>
                </a:solidFill>
              </a:rPr>
              <a:t>species is shown.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498050" y="722575"/>
            <a:ext cx="629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Upload new training images and annotation files following the same procedure as for scratch training </a:t>
            </a:r>
            <a:r>
              <a:rPr b="1" lang="en">
                <a:solidFill>
                  <a:srgbClr val="FF9900"/>
                </a:solidFill>
              </a:rPr>
              <a:t>(6)</a:t>
            </a:r>
            <a:r>
              <a:rPr lang="en">
                <a:solidFill>
                  <a:schemeClr val="dk2"/>
                </a:solidFill>
              </a:rPr>
              <a:t>. These files will be added to the model’s existing dataset, so </a:t>
            </a:r>
            <a:r>
              <a:rPr b="1" lang="en">
                <a:solidFill>
                  <a:schemeClr val="dk2"/>
                </a:solidFill>
              </a:rPr>
              <a:t>previously used</a:t>
            </a:r>
            <a:r>
              <a:rPr lang="en">
                <a:solidFill>
                  <a:schemeClr val="dk2"/>
                </a:solidFill>
              </a:rPr>
              <a:t> training images should be avoided. Adjust the parameters as needed, and click </a:t>
            </a:r>
            <a:r>
              <a:rPr b="1" lang="en">
                <a:solidFill>
                  <a:schemeClr val="dk2"/>
                </a:solidFill>
              </a:rPr>
              <a:t>Start Training.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85" name="Google Shape;85;p15" title="Screenshot 2026-06-02 at 22.33.48.png"/>
          <p:cNvPicPr preferRelativeResize="0"/>
          <p:nvPr/>
        </p:nvPicPr>
        <p:blipFill rotWithShape="1">
          <a:blip r:embed="rId3">
            <a:alphaModFix/>
          </a:blip>
          <a:srcRect b="1186" l="17521" r="5968" t="0"/>
          <a:stretch/>
        </p:blipFill>
        <p:spPr>
          <a:xfrm>
            <a:off x="544350" y="2079525"/>
            <a:ext cx="6296402" cy="444334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3707585" y="4623702"/>
            <a:ext cx="344700" cy="3576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89"/>
              <a:t>6</a:t>
            </a:r>
            <a:endParaRPr sz="889"/>
          </a:p>
        </p:txBody>
      </p:sp>
      <p:sp>
        <p:nvSpPr>
          <p:cNvPr id="87" name="Google Shape;87;p15"/>
          <p:cNvSpPr/>
          <p:nvPr/>
        </p:nvSpPr>
        <p:spPr>
          <a:xfrm>
            <a:off x="3653125" y="4565812"/>
            <a:ext cx="453600" cy="473400"/>
          </a:xfrm>
          <a:prstGeom prst="donut">
            <a:avLst>
              <a:gd fmla="val 669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9"/>
          </a:p>
        </p:txBody>
      </p:sp>
      <p:pic>
        <p:nvPicPr>
          <p:cNvPr id="88" name="Google Shape;88;p15" title="Screenshot 2026-06-02 at 22.41.56.png"/>
          <p:cNvPicPr preferRelativeResize="0"/>
          <p:nvPr/>
        </p:nvPicPr>
        <p:blipFill rotWithShape="1">
          <a:blip r:embed="rId4">
            <a:alphaModFix/>
          </a:blip>
          <a:srcRect b="29790" l="27820" r="10345" t="37046"/>
          <a:stretch/>
        </p:blipFill>
        <p:spPr>
          <a:xfrm>
            <a:off x="511062" y="7063100"/>
            <a:ext cx="6362977" cy="186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" name="Google Shape;94;p16" title="Screenshot 2026-06-02 at 22.51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23026"/>
            <a:ext cx="7255204" cy="396414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462238" y="960963"/>
            <a:ext cx="6421800" cy="1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Once a training job is completed, the new model version becomes available on the </a:t>
            </a:r>
            <a:r>
              <a:rPr b="1" lang="en">
                <a:solidFill>
                  <a:schemeClr val="dk2"/>
                </a:solidFill>
              </a:rPr>
              <a:t>Models</a:t>
            </a:r>
            <a:r>
              <a:rPr lang="en">
                <a:solidFill>
                  <a:schemeClr val="dk2"/>
                </a:solidFill>
              </a:rPr>
              <a:t> page </a:t>
            </a:r>
            <a:r>
              <a:rPr b="1" lang="en">
                <a:solidFill>
                  <a:srgbClr val="FF9900"/>
                </a:solidFill>
              </a:rPr>
              <a:t>(7)</a:t>
            </a:r>
            <a:r>
              <a:rPr lang="en">
                <a:solidFill>
                  <a:schemeClr val="dk2"/>
                </a:solidFill>
              </a:rPr>
              <a:t>. By default, the most recently trained model per species is set as</a:t>
            </a:r>
            <a:r>
              <a:rPr lang="en">
                <a:solidFill>
                  <a:schemeClr val="dk2"/>
                </a:solidFill>
              </a:rPr>
              <a:t> the </a:t>
            </a:r>
            <a:r>
              <a:rPr b="1" lang="en">
                <a:solidFill>
                  <a:schemeClr val="dk2"/>
                </a:solidFill>
              </a:rPr>
              <a:t>active</a:t>
            </a:r>
            <a:r>
              <a:rPr b="1" lang="en">
                <a:solidFill>
                  <a:schemeClr val="dk2"/>
                </a:solidFill>
              </a:rPr>
              <a:t> model</a:t>
            </a:r>
            <a:r>
              <a:rPr lang="en">
                <a:solidFill>
                  <a:schemeClr val="dk2"/>
                </a:solidFill>
              </a:rPr>
              <a:t>. C</a:t>
            </a:r>
            <a:r>
              <a:rPr lang="en">
                <a:solidFill>
                  <a:schemeClr val="dk2"/>
                </a:solidFill>
              </a:rPr>
              <a:t>lick </a:t>
            </a:r>
            <a:r>
              <a:rPr b="1" lang="en">
                <a:solidFill>
                  <a:srgbClr val="FF9900"/>
                </a:solidFill>
              </a:rPr>
              <a:t>(8)</a:t>
            </a:r>
            <a:r>
              <a:rPr lang="en">
                <a:solidFill>
                  <a:schemeClr val="dk2"/>
                </a:solidFill>
              </a:rPr>
              <a:t> to activate a different version.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425949" y="5100401"/>
            <a:ext cx="230100" cy="2376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/>
              <a:t>8</a:t>
            </a:r>
            <a:endParaRPr sz="760"/>
          </a:p>
        </p:txBody>
      </p:sp>
      <p:sp>
        <p:nvSpPr>
          <p:cNvPr id="97" name="Google Shape;97;p16"/>
          <p:cNvSpPr/>
          <p:nvPr/>
        </p:nvSpPr>
        <p:spPr>
          <a:xfrm>
            <a:off x="1391150" y="5067400"/>
            <a:ext cx="299700" cy="303600"/>
          </a:xfrm>
          <a:prstGeom prst="donut">
            <a:avLst>
              <a:gd fmla="val 669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98" name="Google Shape;98;p16"/>
          <p:cNvSpPr txBox="1"/>
          <p:nvPr/>
        </p:nvSpPr>
        <p:spPr>
          <a:xfrm>
            <a:off x="462250" y="397875"/>
            <a:ext cx="47496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Manage model versions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803053" y="3161975"/>
            <a:ext cx="256200" cy="2634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89"/>
              <a:t>7</a:t>
            </a:r>
            <a:endParaRPr sz="889"/>
          </a:p>
        </p:txBody>
      </p:sp>
      <p:sp>
        <p:nvSpPr>
          <p:cNvPr id="100" name="Google Shape;100;p16"/>
          <p:cNvSpPr/>
          <p:nvPr/>
        </p:nvSpPr>
        <p:spPr>
          <a:xfrm>
            <a:off x="767050" y="3127779"/>
            <a:ext cx="328200" cy="331800"/>
          </a:xfrm>
          <a:prstGeom prst="donut">
            <a:avLst>
              <a:gd fmla="val 669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9"/>
          </a:p>
        </p:txBody>
      </p:sp>
      <p:sp>
        <p:nvSpPr>
          <p:cNvPr id="101" name="Google Shape;101;p16"/>
          <p:cNvSpPr/>
          <p:nvPr/>
        </p:nvSpPr>
        <p:spPr>
          <a:xfrm>
            <a:off x="6843902" y="2416453"/>
            <a:ext cx="303900" cy="3153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51200" lIns="51200" spcFirstLastPara="1" rIns="51200" wrap="square" tIns="5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84"/>
              <a:t>9</a:t>
            </a:r>
            <a:endParaRPr sz="784"/>
          </a:p>
        </p:txBody>
      </p:sp>
      <p:sp>
        <p:nvSpPr>
          <p:cNvPr id="102" name="Google Shape;102;p16"/>
          <p:cNvSpPr/>
          <p:nvPr/>
        </p:nvSpPr>
        <p:spPr>
          <a:xfrm>
            <a:off x="6795849" y="2365375"/>
            <a:ext cx="400200" cy="417600"/>
          </a:xfrm>
          <a:prstGeom prst="donut">
            <a:avLst>
              <a:gd fmla="val 669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51200" lIns="51200" spcFirstLastPara="1" rIns="51200" wrap="square" tIns="5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4"/>
          </a:p>
        </p:txBody>
      </p:sp>
      <p:sp>
        <p:nvSpPr>
          <p:cNvPr id="103" name="Google Shape;103;p16"/>
          <p:cNvSpPr txBox="1"/>
          <p:nvPr/>
        </p:nvSpPr>
        <p:spPr>
          <a:xfrm>
            <a:off x="374100" y="6549600"/>
            <a:ext cx="34059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To manually upload a model, click </a:t>
            </a:r>
            <a:r>
              <a:rPr b="1" lang="en">
                <a:solidFill>
                  <a:srgbClr val="FF9900"/>
                </a:solidFill>
              </a:rPr>
              <a:t>(9)</a:t>
            </a:r>
            <a:r>
              <a:rPr lang="en">
                <a:solidFill>
                  <a:schemeClr val="dk2"/>
                </a:solidFill>
              </a:rPr>
              <a:t>.</a:t>
            </a:r>
            <a:endParaRPr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Enter the species, version name, add an optional description, and upload either:</a:t>
            </a:r>
            <a:endParaRPr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A single model file (</a:t>
            </a:r>
            <a:r>
              <a:rPr b="1" lang="en">
                <a:solidFill>
                  <a:schemeClr val="dk2"/>
                </a:solidFill>
              </a:rPr>
              <a:t>.pt / .pth</a:t>
            </a:r>
            <a:r>
              <a:rPr lang="en">
                <a:solidFill>
                  <a:schemeClr val="dk2"/>
                </a:solidFill>
              </a:rPr>
              <a:t>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A </a:t>
            </a:r>
            <a:r>
              <a:rPr b="1" lang="en">
                <a:solidFill>
                  <a:schemeClr val="dk2"/>
                </a:solidFill>
              </a:rPr>
              <a:t>training run folder</a:t>
            </a:r>
            <a:r>
              <a:rPr lang="en">
                <a:solidFill>
                  <a:schemeClr val="dk2"/>
                </a:solidFill>
              </a:rPr>
              <a:t> (containing model + charts)</a:t>
            </a:r>
            <a:endParaRPr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04" name="Google Shape;104;p16" title="Screenshot 2026-06-03 at 11.11.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1674" y="6549600"/>
            <a:ext cx="2935950" cy="34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