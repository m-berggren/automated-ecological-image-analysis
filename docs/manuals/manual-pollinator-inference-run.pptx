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238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783f32035_1_0: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783f3203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783f32035_1_17: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783f32035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717b49e24_0_8: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717b49e2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717b49e24_0_24: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717b49e2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717b49e24_0_41: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717b49e2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e717b49e24_0_52: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e717b49e2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783f32035_1_67: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783f32035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7712" y="1547778"/>
            <a:ext cx="7044600" cy="426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7705" y="5891409"/>
            <a:ext cx="7044600" cy="164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7705" y="4471058"/>
            <a:ext cx="7044600" cy="1749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7705" y="2395696"/>
            <a:ext cx="7044600" cy="7101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7705"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995291"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7705" y="1154948"/>
            <a:ext cx="2321700" cy="15711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7705" y="2888617"/>
            <a:ext cx="2321700" cy="660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5325" y="935745"/>
            <a:ext cx="5264700" cy="85035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780000" y="-260"/>
            <a:ext cx="3780000" cy="1069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9508" y="2563450"/>
            <a:ext cx="3344400" cy="3081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19508" y="5826865"/>
            <a:ext cx="3344400" cy="2567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083839" y="1505164"/>
            <a:ext cx="3172200" cy="76812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7705" y="8794266"/>
            <a:ext cx="4959600" cy="1257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7705" y="2299346"/>
            <a:ext cx="7044600" cy="4081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7705" y="6552657"/>
            <a:ext cx="7044600" cy="2703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2.png"/><Relationship Id="rId4" Type="http://schemas.openxmlformats.org/officeDocument/2006/relationships/image" Target="../media/image9.png"/><Relationship Id="rId10" Type="http://schemas.openxmlformats.org/officeDocument/2006/relationships/image" Target="../media/image5.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2.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29.png"/><Relationship Id="rId7" Type="http://schemas.openxmlformats.org/officeDocument/2006/relationships/image" Target="../media/image27.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25.png"/><Relationship Id="rId5" Type="http://schemas.openxmlformats.org/officeDocument/2006/relationships/image" Target="../media/image31.png"/><Relationship Id="rId6"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466950" y="673450"/>
            <a:ext cx="3748800" cy="6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2"/>
                </a:solidFill>
              </a:rPr>
              <a:t>Pollinator module</a:t>
            </a:r>
            <a:endParaRPr b="1" sz="3000">
              <a:solidFill>
                <a:schemeClr val="dk2"/>
              </a:solidFill>
            </a:endParaRPr>
          </a:p>
        </p:txBody>
      </p:sp>
      <p:sp>
        <p:nvSpPr>
          <p:cNvPr id="55" name="Google Shape;55;p13"/>
          <p:cNvSpPr txBox="1"/>
          <p:nvPr/>
        </p:nvSpPr>
        <p:spPr>
          <a:xfrm>
            <a:off x="466950" y="1912475"/>
            <a:ext cx="6388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Typing in a name for the run is mandatory </a:t>
            </a:r>
            <a:r>
              <a:rPr b="1" lang="en">
                <a:solidFill>
                  <a:srgbClr val="FF9900"/>
                </a:solidFill>
              </a:rPr>
              <a:t>(1)</a:t>
            </a:r>
            <a:r>
              <a:rPr lang="en">
                <a:solidFill>
                  <a:schemeClr val="dk2"/>
                </a:solidFill>
              </a:rPr>
              <a:t>. For detection </a:t>
            </a:r>
            <a:r>
              <a:rPr b="1" lang="en">
                <a:solidFill>
                  <a:schemeClr val="dk2"/>
                </a:solidFill>
              </a:rPr>
              <a:t>0.2</a:t>
            </a:r>
            <a:r>
              <a:rPr lang="en">
                <a:solidFill>
                  <a:schemeClr val="dk2"/>
                </a:solidFill>
              </a:rPr>
              <a:t> is standard, if you lower it to </a:t>
            </a:r>
            <a:r>
              <a:rPr b="1" lang="en">
                <a:solidFill>
                  <a:schemeClr val="dk2"/>
                </a:solidFill>
              </a:rPr>
              <a:t>0.05</a:t>
            </a:r>
            <a:r>
              <a:rPr lang="en">
                <a:solidFill>
                  <a:schemeClr val="dk2"/>
                </a:solidFill>
              </a:rPr>
              <a:t> the motion-based detection pipeline will detect a lot of more noise. Once models become better (higher recall results) this threshold can be raised.</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You can decide to set a region of interest, ROI </a:t>
            </a:r>
            <a:r>
              <a:rPr b="1" lang="en">
                <a:solidFill>
                  <a:srgbClr val="FF9900"/>
                </a:solidFill>
              </a:rPr>
              <a:t>(2) </a:t>
            </a:r>
            <a:r>
              <a:rPr lang="en">
                <a:solidFill>
                  <a:schemeClr val="dk2"/>
                </a:solidFill>
              </a:rPr>
              <a:t>that will open a pop up window. Clicking on “Start detection” </a:t>
            </a:r>
            <a:r>
              <a:rPr b="1" lang="en">
                <a:solidFill>
                  <a:srgbClr val="FF9900"/>
                </a:solidFill>
              </a:rPr>
              <a:t>(3)</a:t>
            </a:r>
            <a:r>
              <a:rPr lang="en">
                <a:solidFill>
                  <a:schemeClr val="dk2"/>
                </a:solidFill>
              </a:rPr>
              <a:t> will take you to a popup-window shown on next page, if ROI box is checked.</a:t>
            </a:r>
            <a:endParaRPr>
              <a:solidFill>
                <a:schemeClr val="dk2"/>
              </a:solidFill>
            </a:endParaRPr>
          </a:p>
        </p:txBody>
      </p:sp>
      <p:sp>
        <p:nvSpPr>
          <p:cNvPr id="56" name="Google Shape;56;p13"/>
          <p:cNvSpPr txBox="1"/>
          <p:nvPr/>
        </p:nvSpPr>
        <p:spPr>
          <a:xfrm>
            <a:off x="466950" y="1324313"/>
            <a:ext cx="4749600" cy="56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2"/>
                </a:solidFill>
              </a:rPr>
              <a:t>R</a:t>
            </a:r>
            <a:r>
              <a:rPr lang="en" sz="2500">
                <a:solidFill>
                  <a:schemeClr val="dk2"/>
                </a:solidFill>
              </a:rPr>
              <a:t>unning an inference run</a:t>
            </a:r>
            <a:endParaRPr sz="1800">
              <a:solidFill>
                <a:schemeClr val="dk2"/>
              </a:solidFill>
            </a:endParaRPr>
          </a:p>
        </p:txBody>
      </p:sp>
      <p:sp>
        <p:nvSpPr>
          <p:cNvPr id="57" name="Google Shape;57;p13"/>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8" name="Google Shape;58;p13"/>
          <p:cNvPicPr preferRelativeResize="0"/>
          <p:nvPr/>
        </p:nvPicPr>
        <p:blipFill>
          <a:blip r:embed="rId3">
            <a:alphaModFix/>
          </a:blip>
          <a:stretch>
            <a:fillRect/>
          </a:stretch>
        </p:blipFill>
        <p:spPr>
          <a:xfrm>
            <a:off x="984475" y="3821075"/>
            <a:ext cx="5803699" cy="6281174"/>
          </a:xfrm>
          <a:prstGeom prst="rect">
            <a:avLst/>
          </a:prstGeom>
          <a:noFill/>
          <a:ln>
            <a:noFill/>
          </a:ln>
        </p:spPr>
      </p:pic>
      <p:pic>
        <p:nvPicPr>
          <p:cNvPr id="59" name="Google Shape;59;p13"/>
          <p:cNvPicPr preferRelativeResize="0"/>
          <p:nvPr/>
        </p:nvPicPr>
        <p:blipFill>
          <a:blip r:embed="rId4">
            <a:alphaModFix/>
          </a:blip>
          <a:stretch>
            <a:fillRect/>
          </a:stretch>
        </p:blipFill>
        <p:spPr>
          <a:xfrm>
            <a:off x="1996075" y="4479037"/>
            <a:ext cx="453600" cy="461288"/>
          </a:xfrm>
          <a:prstGeom prst="rect">
            <a:avLst/>
          </a:prstGeom>
          <a:noFill/>
          <a:ln>
            <a:noFill/>
          </a:ln>
        </p:spPr>
      </p:pic>
      <p:pic>
        <p:nvPicPr>
          <p:cNvPr id="60" name="Google Shape;60;p13"/>
          <p:cNvPicPr preferRelativeResize="0"/>
          <p:nvPr/>
        </p:nvPicPr>
        <p:blipFill>
          <a:blip r:embed="rId5">
            <a:alphaModFix/>
          </a:blip>
          <a:stretch>
            <a:fillRect/>
          </a:stretch>
        </p:blipFill>
        <p:spPr>
          <a:xfrm>
            <a:off x="984475" y="7278500"/>
            <a:ext cx="453600" cy="453600"/>
          </a:xfrm>
          <a:prstGeom prst="rect">
            <a:avLst/>
          </a:prstGeom>
          <a:noFill/>
          <a:ln>
            <a:noFill/>
          </a:ln>
        </p:spPr>
      </p:pic>
      <p:pic>
        <p:nvPicPr>
          <p:cNvPr id="61" name="Google Shape;61;p13"/>
          <p:cNvPicPr preferRelativeResize="0"/>
          <p:nvPr/>
        </p:nvPicPr>
        <p:blipFill>
          <a:blip r:embed="rId6">
            <a:alphaModFix/>
          </a:blip>
          <a:stretch>
            <a:fillRect/>
          </a:stretch>
        </p:blipFill>
        <p:spPr>
          <a:xfrm>
            <a:off x="5672350" y="9450000"/>
            <a:ext cx="453600" cy="453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7" name="Google Shape;67;p14"/>
          <p:cNvPicPr preferRelativeResize="0"/>
          <p:nvPr/>
        </p:nvPicPr>
        <p:blipFill>
          <a:blip r:embed="rId3">
            <a:alphaModFix/>
          </a:blip>
          <a:stretch>
            <a:fillRect/>
          </a:stretch>
        </p:blipFill>
        <p:spPr>
          <a:xfrm>
            <a:off x="867875" y="7580000"/>
            <a:ext cx="6000750" cy="2181225"/>
          </a:xfrm>
          <a:prstGeom prst="rect">
            <a:avLst/>
          </a:prstGeom>
          <a:noFill/>
          <a:ln>
            <a:noFill/>
          </a:ln>
        </p:spPr>
      </p:pic>
      <p:pic>
        <p:nvPicPr>
          <p:cNvPr id="68" name="Google Shape;68;p14"/>
          <p:cNvPicPr preferRelativeResize="0"/>
          <p:nvPr/>
        </p:nvPicPr>
        <p:blipFill>
          <a:blip r:embed="rId4">
            <a:alphaModFix/>
          </a:blip>
          <a:stretch>
            <a:fillRect/>
          </a:stretch>
        </p:blipFill>
        <p:spPr>
          <a:xfrm>
            <a:off x="956112" y="598648"/>
            <a:ext cx="5233124" cy="3565824"/>
          </a:xfrm>
          <a:prstGeom prst="rect">
            <a:avLst/>
          </a:prstGeom>
          <a:noFill/>
          <a:ln>
            <a:noFill/>
          </a:ln>
        </p:spPr>
      </p:pic>
      <p:sp>
        <p:nvSpPr>
          <p:cNvPr id="69" name="Google Shape;69;p14"/>
          <p:cNvSpPr txBox="1"/>
          <p:nvPr/>
        </p:nvSpPr>
        <p:spPr>
          <a:xfrm>
            <a:off x="481625" y="201150"/>
            <a:ext cx="63870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This window will let you draw a rectangle, nothing outside of it will be caught.</a:t>
            </a:r>
            <a:endParaRPr>
              <a:solidFill>
                <a:schemeClr val="dk2"/>
              </a:solidFill>
            </a:endParaRPr>
          </a:p>
        </p:txBody>
      </p:sp>
      <p:sp>
        <p:nvSpPr>
          <p:cNvPr id="70" name="Google Shape;70;p14"/>
          <p:cNvSpPr txBox="1"/>
          <p:nvPr/>
        </p:nvSpPr>
        <p:spPr>
          <a:xfrm>
            <a:off x="481625" y="4280150"/>
            <a:ext cx="6523200" cy="31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The advanced section on the upload page:</a:t>
            </a:r>
            <a:endParaRPr b="1">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u="sng">
                <a:solidFill>
                  <a:schemeClr val="dk2"/>
                </a:solidFill>
              </a:rPr>
              <a:t>Affect both pipelines:</a:t>
            </a:r>
            <a:endParaRPr u="sng">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Skip flash/foggy frames:</a:t>
            </a:r>
            <a:r>
              <a:rPr lang="en">
                <a:solidFill>
                  <a:schemeClr val="dk2"/>
                </a:solidFill>
              </a:rPr>
              <a:t> skips images if flash taken or it is too foggy</a:t>
            </a:r>
            <a:endParaRPr>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Large-motion tile overlap:</a:t>
            </a:r>
            <a:r>
              <a:rPr lang="en">
                <a:solidFill>
                  <a:schemeClr val="dk2"/>
                </a:solidFill>
              </a:rPr>
              <a:t> important when the two pipelines merges detections. Lower means fewer duplicated boxes that overlap each other. Tied to “Detect large motion” checkbox.</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u="sng">
                <a:solidFill>
                  <a:schemeClr val="dk2"/>
                </a:solidFill>
              </a:rPr>
              <a:t>Only has effect on motion-based pipeline:</a:t>
            </a:r>
            <a:endParaRPr u="sng">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Crop padding:</a:t>
            </a:r>
            <a:r>
              <a:rPr lang="en">
                <a:solidFill>
                  <a:schemeClr val="dk2"/>
                </a:solidFill>
              </a:rPr>
              <a:t> adds a bit extra context around each bbox</a:t>
            </a:r>
            <a:endParaRPr>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Min/max contour area:</a:t>
            </a:r>
            <a:r>
              <a:rPr lang="en">
                <a:solidFill>
                  <a:schemeClr val="dk2"/>
                </a:solidFill>
              </a:rPr>
              <a:t> smallest and largest areas detected</a:t>
            </a:r>
            <a:endParaRPr>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Background sample size: </a:t>
            </a:r>
            <a:r>
              <a:rPr lang="en">
                <a:solidFill>
                  <a:schemeClr val="dk2"/>
                </a:solidFill>
              </a:rPr>
              <a:t>samples </a:t>
            </a:r>
            <a:r>
              <a:rPr b="1" lang="en">
                <a:solidFill>
                  <a:schemeClr val="dk2"/>
                </a:solidFill>
              </a:rPr>
              <a:t>0</a:t>
            </a:r>
            <a:r>
              <a:rPr lang="en">
                <a:solidFill>
                  <a:schemeClr val="dk2"/>
                </a:solidFill>
              </a:rPr>
              <a:t> (default) images to use as a median image that is used to compare first image against something. Turned off for now as it makes the inference run take longer in larger datasets.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6" name="Google Shape;76;p15"/>
          <p:cNvPicPr preferRelativeResize="0"/>
          <p:nvPr/>
        </p:nvPicPr>
        <p:blipFill>
          <a:blip r:embed="rId3">
            <a:alphaModFix/>
          </a:blip>
          <a:stretch>
            <a:fillRect/>
          </a:stretch>
        </p:blipFill>
        <p:spPr>
          <a:xfrm>
            <a:off x="530575" y="2113688"/>
            <a:ext cx="6699988" cy="6349606"/>
          </a:xfrm>
          <a:prstGeom prst="rect">
            <a:avLst/>
          </a:prstGeom>
          <a:noFill/>
          <a:ln>
            <a:noFill/>
          </a:ln>
        </p:spPr>
      </p:pic>
      <p:sp>
        <p:nvSpPr>
          <p:cNvPr id="77" name="Google Shape;77;p15"/>
          <p:cNvSpPr txBox="1"/>
          <p:nvPr/>
        </p:nvSpPr>
        <p:spPr>
          <a:xfrm>
            <a:off x="634050" y="322725"/>
            <a:ext cx="6265200" cy="173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When images has been uploaded you are automatically taken to the </a:t>
            </a:r>
            <a:r>
              <a:rPr b="1" lang="en">
                <a:solidFill>
                  <a:schemeClr val="dk2"/>
                </a:solidFill>
              </a:rPr>
              <a:t>Detection page</a:t>
            </a:r>
            <a:r>
              <a:rPr lang="en">
                <a:solidFill>
                  <a:schemeClr val="dk2"/>
                </a:solidFill>
              </a:rPr>
              <a:t> where you find the progress. Today that process is around 100 images per 5 minutes, but it does vary depending on if using ROI and the confidence score used. It will say “completed” when it is done but you can go into the </a:t>
            </a:r>
            <a:r>
              <a:rPr b="1" lang="en">
                <a:solidFill>
                  <a:schemeClr val="dk2"/>
                </a:solidFill>
              </a:rPr>
              <a:t>Review page</a:t>
            </a:r>
            <a:r>
              <a:rPr lang="en">
                <a:solidFill>
                  <a:schemeClr val="dk2"/>
                </a:solidFill>
              </a:rPr>
              <a:t> </a:t>
            </a:r>
            <a:r>
              <a:rPr b="1" lang="en">
                <a:solidFill>
                  <a:srgbClr val="FF9900"/>
                </a:solidFill>
              </a:rPr>
              <a:t>(4)</a:t>
            </a:r>
            <a:r>
              <a:rPr lang="en">
                <a:solidFill>
                  <a:schemeClr val="dk2"/>
                </a:solidFill>
              </a:rPr>
              <a:t> or </a:t>
            </a:r>
            <a:r>
              <a:rPr b="1" lang="en">
                <a:solidFill>
                  <a:srgbClr val="FF9900"/>
                </a:solidFill>
              </a:rPr>
              <a:t>(5)</a:t>
            </a:r>
            <a:r>
              <a:rPr lang="en">
                <a:solidFill>
                  <a:schemeClr val="dk2"/>
                </a:solidFill>
              </a:rPr>
              <a:t> immediately and start reviewing if you want to - just know that there is no auto-refresh built in, so you will have to manually refresh that page to get updated images and crops shown.</a:t>
            </a:r>
            <a:endParaRPr>
              <a:solidFill>
                <a:schemeClr val="dk2"/>
              </a:solidFill>
            </a:endParaRPr>
          </a:p>
        </p:txBody>
      </p:sp>
      <p:pic>
        <p:nvPicPr>
          <p:cNvPr id="78" name="Google Shape;78;p15"/>
          <p:cNvPicPr preferRelativeResize="0"/>
          <p:nvPr/>
        </p:nvPicPr>
        <p:blipFill>
          <a:blip r:embed="rId4">
            <a:alphaModFix/>
          </a:blip>
          <a:stretch>
            <a:fillRect/>
          </a:stretch>
        </p:blipFill>
        <p:spPr>
          <a:xfrm>
            <a:off x="6076750" y="3457198"/>
            <a:ext cx="389575" cy="389575"/>
          </a:xfrm>
          <a:prstGeom prst="rect">
            <a:avLst/>
          </a:prstGeom>
          <a:noFill/>
          <a:ln>
            <a:noFill/>
          </a:ln>
        </p:spPr>
      </p:pic>
      <p:pic>
        <p:nvPicPr>
          <p:cNvPr id="79" name="Google Shape;79;p15"/>
          <p:cNvPicPr preferRelativeResize="0"/>
          <p:nvPr/>
        </p:nvPicPr>
        <p:blipFill>
          <a:blip r:embed="rId5">
            <a:alphaModFix/>
          </a:blip>
          <a:stretch>
            <a:fillRect/>
          </a:stretch>
        </p:blipFill>
        <p:spPr>
          <a:xfrm>
            <a:off x="4427175" y="2113702"/>
            <a:ext cx="389575" cy="3831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nvSpPr>
        <p:spPr>
          <a:xfrm>
            <a:off x="434625" y="309750"/>
            <a:ext cx="6421800" cy="21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In the </a:t>
            </a:r>
            <a:r>
              <a:rPr b="1" lang="en">
                <a:solidFill>
                  <a:schemeClr val="dk2"/>
                </a:solidFill>
              </a:rPr>
              <a:t>Review page</a:t>
            </a:r>
            <a:r>
              <a:rPr lang="en">
                <a:solidFill>
                  <a:schemeClr val="dk2"/>
                </a:solidFill>
              </a:rPr>
              <a:t> there are several ways to select crops.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sz="1800">
                <a:solidFill>
                  <a:schemeClr val="dk2"/>
                </a:solidFill>
              </a:rPr>
              <a:t>Selecting crops:</a:t>
            </a:r>
            <a:endParaRPr b="1" sz="1800">
              <a:solidFill>
                <a:schemeClr val="dk2"/>
              </a:solidFill>
            </a:endParaRPr>
          </a:p>
          <a:p>
            <a:pPr indent="0" lvl="0" marL="0" rtl="0" algn="l">
              <a:spcBef>
                <a:spcPts val="0"/>
              </a:spcBef>
              <a:spcAft>
                <a:spcPts val="0"/>
              </a:spcAft>
              <a:buNone/>
            </a:pPr>
            <a:r>
              <a:rPr lang="en">
                <a:solidFill>
                  <a:schemeClr val="dk2"/>
                </a:solidFill>
              </a:rPr>
              <a:t>You can click on a box directly in the image </a:t>
            </a:r>
            <a:r>
              <a:rPr b="1" lang="en">
                <a:solidFill>
                  <a:srgbClr val="FF9900"/>
                </a:solidFill>
              </a:rPr>
              <a:t>(6)</a:t>
            </a:r>
            <a:r>
              <a:rPr lang="en">
                <a:solidFill>
                  <a:schemeClr val="dk2"/>
                </a:solidFill>
              </a:rPr>
              <a:t> or drag to select several boxes </a:t>
            </a:r>
            <a:r>
              <a:rPr b="1" lang="en">
                <a:solidFill>
                  <a:srgbClr val="FF9900"/>
                </a:solidFill>
              </a:rPr>
              <a:t>(7)</a:t>
            </a:r>
            <a:r>
              <a:rPr lang="en">
                <a:solidFill>
                  <a:schemeClr val="dk2"/>
                </a:solidFill>
              </a:rPr>
              <a:t>. You can also select crops directly in the right column, either through </a:t>
            </a:r>
            <a:r>
              <a:rPr b="1" lang="en">
                <a:solidFill>
                  <a:schemeClr val="dk2"/>
                </a:solidFill>
              </a:rPr>
              <a:t>normal </a:t>
            </a:r>
            <a:r>
              <a:rPr b="1" lang="en">
                <a:solidFill>
                  <a:schemeClr val="dk2"/>
                </a:solidFill>
              </a:rPr>
              <a:t>click</a:t>
            </a:r>
            <a:r>
              <a:rPr lang="en">
                <a:solidFill>
                  <a:schemeClr val="dk2"/>
                </a:solidFill>
              </a:rPr>
              <a:t>, </a:t>
            </a:r>
            <a:r>
              <a:rPr b="1" lang="en">
                <a:solidFill>
                  <a:schemeClr val="dk2"/>
                </a:solidFill>
              </a:rPr>
              <a:t>shift-click</a:t>
            </a:r>
            <a:r>
              <a:rPr lang="en">
                <a:solidFill>
                  <a:schemeClr val="dk2"/>
                </a:solidFill>
              </a:rPr>
              <a:t> or </a:t>
            </a:r>
            <a:r>
              <a:rPr b="1" lang="en">
                <a:solidFill>
                  <a:schemeClr val="dk2"/>
                </a:solidFill>
              </a:rPr>
              <a:t>ctrl/cmd-click</a:t>
            </a:r>
            <a:r>
              <a:rPr lang="en">
                <a:solidFill>
                  <a:schemeClr val="dk2"/>
                </a:solidFill>
              </a:rPr>
              <a:t> </a:t>
            </a:r>
            <a:r>
              <a:rPr b="1" lang="en">
                <a:solidFill>
                  <a:srgbClr val="FF9900"/>
                </a:solidFill>
              </a:rPr>
              <a:t>(8)</a:t>
            </a:r>
            <a:r>
              <a:rPr lang="en">
                <a:solidFill>
                  <a:schemeClr val="dk2"/>
                </a:solidFill>
              </a:rPr>
              <a:t>.</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To the bottom right you can confirm what label the selected crop(s) should get </a:t>
            </a:r>
            <a:r>
              <a:rPr b="1" lang="en">
                <a:solidFill>
                  <a:srgbClr val="FF9900"/>
                </a:solidFill>
              </a:rPr>
              <a:t>(9) (10)</a:t>
            </a:r>
            <a:r>
              <a:rPr lang="en">
                <a:solidFill>
                  <a:schemeClr val="dk2"/>
                </a:solidFill>
              </a:rPr>
              <a:t>.</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85" name="Google Shape;85;p16"/>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6" name="Google Shape;86;p16"/>
          <p:cNvPicPr preferRelativeResize="0"/>
          <p:nvPr/>
        </p:nvPicPr>
        <p:blipFill>
          <a:blip r:embed="rId3">
            <a:alphaModFix/>
          </a:blip>
          <a:stretch>
            <a:fillRect/>
          </a:stretch>
        </p:blipFill>
        <p:spPr>
          <a:xfrm>
            <a:off x="0" y="2445550"/>
            <a:ext cx="7560000" cy="5105651"/>
          </a:xfrm>
          <a:prstGeom prst="rect">
            <a:avLst/>
          </a:prstGeom>
          <a:noFill/>
          <a:ln>
            <a:noFill/>
          </a:ln>
        </p:spPr>
      </p:pic>
      <p:pic>
        <p:nvPicPr>
          <p:cNvPr id="87" name="Google Shape;87;p16"/>
          <p:cNvPicPr preferRelativeResize="0"/>
          <p:nvPr/>
        </p:nvPicPr>
        <p:blipFill>
          <a:blip r:embed="rId4">
            <a:alphaModFix/>
          </a:blip>
          <a:stretch>
            <a:fillRect/>
          </a:stretch>
        </p:blipFill>
        <p:spPr>
          <a:xfrm>
            <a:off x="3964500" y="4711225"/>
            <a:ext cx="453600" cy="453600"/>
          </a:xfrm>
          <a:prstGeom prst="rect">
            <a:avLst/>
          </a:prstGeom>
          <a:noFill/>
          <a:ln>
            <a:noFill/>
          </a:ln>
        </p:spPr>
      </p:pic>
      <p:pic>
        <p:nvPicPr>
          <p:cNvPr id="88" name="Google Shape;88;p16"/>
          <p:cNvPicPr preferRelativeResize="0"/>
          <p:nvPr/>
        </p:nvPicPr>
        <p:blipFill>
          <a:blip r:embed="rId5">
            <a:alphaModFix/>
          </a:blip>
          <a:stretch>
            <a:fillRect/>
          </a:stretch>
        </p:blipFill>
        <p:spPr>
          <a:xfrm>
            <a:off x="3089425" y="3749815"/>
            <a:ext cx="453600" cy="461160"/>
          </a:xfrm>
          <a:prstGeom prst="rect">
            <a:avLst/>
          </a:prstGeom>
          <a:noFill/>
          <a:ln>
            <a:noFill/>
          </a:ln>
        </p:spPr>
      </p:pic>
      <p:pic>
        <p:nvPicPr>
          <p:cNvPr id="89" name="Google Shape;89;p16"/>
          <p:cNvPicPr preferRelativeResize="0"/>
          <p:nvPr/>
        </p:nvPicPr>
        <p:blipFill>
          <a:blip r:embed="rId6">
            <a:alphaModFix/>
          </a:blip>
          <a:stretch>
            <a:fillRect/>
          </a:stretch>
        </p:blipFill>
        <p:spPr>
          <a:xfrm>
            <a:off x="5750250" y="7752376"/>
            <a:ext cx="1809750" cy="2819400"/>
          </a:xfrm>
          <a:prstGeom prst="rect">
            <a:avLst/>
          </a:prstGeom>
          <a:noFill/>
          <a:ln>
            <a:noFill/>
          </a:ln>
        </p:spPr>
      </p:pic>
      <p:pic>
        <p:nvPicPr>
          <p:cNvPr id="90" name="Google Shape;90;p16"/>
          <p:cNvPicPr preferRelativeResize="0"/>
          <p:nvPr/>
        </p:nvPicPr>
        <p:blipFill>
          <a:blip r:embed="rId7">
            <a:alphaModFix/>
          </a:blip>
          <a:stretch>
            <a:fillRect/>
          </a:stretch>
        </p:blipFill>
        <p:spPr>
          <a:xfrm>
            <a:off x="806175" y="8274389"/>
            <a:ext cx="3076575" cy="1419225"/>
          </a:xfrm>
          <a:prstGeom prst="rect">
            <a:avLst/>
          </a:prstGeom>
          <a:noFill/>
          <a:ln>
            <a:noFill/>
          </a:ln>
        </p:spPr>
      </p:pic>
      <p:pic>
        <p:nvPicPr>
          <p:cNvPr id="91" name="Google Shape;91;p16"/>
          <p:cNvPicPr preferRelativeResize="0"/>
          <p:nvPr/>
        </p:nvPicPr>
        <p:blipFill>
          <a:blip r:embed="rId8">
            <a:alphaModFix/>
          </a:blip>
          <a:stretch>
            <a:fillRect/>
          </a:stretch>
        </p:blipFill>
        <p:spPr>
          <a:xfrm>
            <a:off x="1780275" y="9161625"/>
            <a:ext cx="531975" cy="532000"/>
          </a:xfrm>
          <a:prstGeom prst="rect">
            <a:avLst/>
          </a:prstGeom>
          <a:noFill/>
          <a:ln>
            <a:noFill/>
          </a:ln>
        </p:spPr>
      </p:pic>
      <p:pic>
        <p:nvPicPr>
          <p:cNvPr id="92" name="Google Shape;92;p16"/>
          <p:cNvPicPr preferRelativeResize="0"/>
          <p:nvPr/>
        </p:nvPicPr>
        <p:blipFill>
          <a:blip r:embed="rId9">
            <a:alphaModFix/>
          </a:blip>
          <a:stretch>
            <a:fillRect/>
          </a:stretch>
        </p:blipFill>
        <p:spPr>
          <a:xfrm>
            <a:off x="3735600" y="8404748"/>
            <a:ext cx="453600" cy="453600"/>
          </a:xfrm>
          <a:prstGeom prst="rect">
            <a:avLst/>
          </a:prstGeom>
          <a:noFill/>
          <a:ln>
            <a:noFill/>
          </a:ln>
        </p:spPr>
      </p:pic>
      <p:cxnSp>
        <p:nvCxnSpPr>
          <p:cNvPr id="93" name="Google Shape;93;p16"/>
          <p:cNvCxnSpPr/>
          <p:nvPr/>
        </p:nvCxnSpPr>
        <p:spPr>
          <a:xfrm flipH="1">
            <a:off x="3886000" y="7448375"/>
            <a:ext cx="1407900" cy="813000"/>
          </a:xfrm>
          <a:prstGeom prst="straightConnector1">
            <a:avLst/>
          </a:prstGeom>
          <a:noFill/>
          <a:ln cap="flat" cmpd="sng" w="28575">
            <a:solidFill>
              <a:schemeClr val="dk2"/>
            </a:solidFill>
            <a:prstDash val="solid"/>
            <a:round/>
            <a:headEnd len="med" w="med" type="none"/>
            <a:tailEnd len="med" w="med" type="triangle"/>
          </a:ln>
        </p:spPr>
      </p:cxnSp>
      <p:cxnSp>
        <p:nvCxnSpPr>
          <p:cNvPr id="94" name="Google Shape;94;p16"/>
          <p:cNvCxnSpPr>
            <a:endCxn id="89" idx="0"/>
          </p:cNvCxnSpPr>
          <p:nvPr/>
        </p:nvCxnSpPr>
        <p:spPr>
          <a:xfrm flipH="1">
            <a:off x="6655125" y="4189876"/>
            <a:ext cx="473700" cy="3562500"/>
          </a:xfrm>
          <a:prstGeom prst="straightConnector1">
            <a:avLst/>
          </a:prstGeom>
          <a:noFill/>
          <a:ln cap="flat" cmpd="sng" w="28575">
            <a:solidFill>
              <a:schemeClr val="dk2"/>
            </a:solidFill>
            <a:prstDash val="solid"/>
            <a:round/>
            <a:headEnd len="med" w="med" type="none"/>
            <a:tailEnd len="med" w="med" type="triangle"/>
          </a:ln>
        </p:spPr>
      </p:cxnSp>
      <p:pic>
        <p:nvPicPr>
          <p:cNvPr id="95" name="Google Shape;95;p16"/>
          <p:cNvPicPr preferRelativeResize="0"/>
          <p:nvPr/>
        </p:nvPicPr>
        <p:blipFill>
          <a:blip r:embed="rId10">
            <a:alphaModFix/>
          </a:blip>
          <a:stretch>
            <a:fillRect/>
          </a:stretch>
        </p:blipFill>
        <p:spPr>
          <a:xfrm>
            <a:off x="6468975" y="8168697"/>
            <a:ext cx="453600" cy="45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nvSpPr>
        <p:spPr>
          <a:xfrm>
            <a:off x="455825" y="294500"/>
            <a:ext cx="59202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Using keys to quickly label crops:</a:t>
            </a:r>
            <a:endParaRPr b="1" sz="1800">
              <a:solidFill>
                <a:schemeClr val="dk2"/>
              </a:solidFill>
            </a:endParaRPr>
          </a:p>
        </p:txBody>
      </p:sp>
      <p:sp>
        <p:nvSpPr>
          <p:cNvPr id="101" name="Google Shape;101;p17"/>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2" name="Google Shape;102;p17"/>
          <p:cNvSpPr txBox="1"/>
          <p:nvPr/>
        </p:nvSpPr>
        <p:spPr>
          <a:xfrm>
            <a:off x="455825" y="790450"/>
            <a:ext cx="6410700" cy="36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Left </a:t>
            </a:r>
            <a:r>
              <a:rPr lang="en">
                <a:solidFill>
                  <a:schemeClr val="dk2"/>
                </a:solidFill>
              </a:rPr>
              <a:t>and </a:t>
            </a:r>
            <a:r>
              <a:rPr b="1" lang="en">
                <a:solidFill>
                  <a:schemeClr val="dk2"/>
                </a:solidFill>
              </a:rPr>
              <a:t>right arrow</a:t>
            </a:r>
            <a:r>
              <a:rPr lang="en">
                <a:solidFill>
                  <a:schemeClr val="dk2"/>
                </a:solidFill>
              </a:rPr>
              <a:t> will let you move through crops in an image, </a:t>
            </a:r>
            <a:r>
              <a:rPr lang="en">
                <a:solidFill>
                  <a:schemeClr val="dk2"/>
                </a:solidFill>
              </a:rPr>
              <a:t>left to right. </a:t>
            </a:r>
            <a:r>
              <a:rPr b="1" lang="en">
                <a:solidFill>
                  <a:schemeClr val="dk2"/>
                </a:solidFill>
              </a:rPr>
              <a:t>Up</a:t>
            </a:r>
            <a:r>
              <a:rPr lang="en">
                <a:solidFill>
                  <a:schemeClr val="dk2"/>
                </a:solidFill>
              </a:rPr>
              <a:t> and </a:t>
            </a:r>
            <a:r>
              <a:rPr b="1" lang="en">
                <a:solidFill>
                  <a:schemeClr val="dk2"/>
                </a:solidFill>
              </a:rPr>
              <a:t>down arrow </a:t>
            </a:r>
            <a:r>
              <a:rPr lang="en">
                <a:solidFill>
                  <a:schemeClr val="dk2"/>
                </a:solidFill>
              </a:rPr>
              <a:t>lets you go through the list of images.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You can type </a:t>
            </a:r>
            <a:r>
              <a:rPr b="1" lang="en">
                <a:solidFill>
                  <a:schemeClr val="dk2"/>
                </a:solidFill>
              </a:rPr>
              <a:t>1-4</a:t>
            </a:r>
            <a:r>
              <a:rPr lang="en">
                <a:solidFill>
                  <a:schemeClr val="dk2"/>
                </a:solidFill>
              </a:rPr>
              <a:t>, </a:t>
            </a:r>
            <a:r>
              <a:rPr b="1" lang="en">
                <a:solidFill>
                  <a:schemeClr val="dk2"/>
                </a:solidFill>
              </a:rPr>
              <a:t>x</a:t>
            </a:r>
            <a:r>
              <a:rPr lang="en">
                <a:solidFill>
                  <a:schemeClr val="dk2"/>
                </a:solidFill>
              </a:rPr>
              <a:t>, </a:t>
            </a:r>
            <a:r>
              <a:rPr b="1" lang="en">
                <a:solidFill>
                  <a:schemeClr val="dk2"/>
                </a:solidFill>
              </a:rPr>
              <a:t>d, y</a:t>
            </a:r>
            <a:r>
              <a:rPr lang="en">
                <a:solidFill>
                  <a:schemeClr val="dk2"/>
                </a:solidFill>
              </a:rPr>
              <a:t> and </a:t>
            </a:r>
            <a:r>
              <a:rPr b="1" lang="en">
                <a:solidFill>
                  <a:schemeClr val="dk2"/>
                </a:solidFill>
              </a:rPr>
              <a:t>u</a:t>
            </a:r>
            <a:r>
              <a:rPr lang="en">
                <a:solidFill>
                  <a:schemeClr val="dk2"/>
                </a:solidFill>
              </a:rPr>
              <a:t> for quick labeling and shortcuts.</a:t>
            </a:r>
            <a:endParaRPr>
              <a:solidFill>
                <a:schemeClr val="dk2"/>
              </a:solidFill>
            </a:endParaRPr>
          </a:p>
          <a:p>
            <a:pPr indent="0" lvl="0" marL="0" rtl="0" algn="l">
              <a:spcBef>
                <a:spcPts val="0"/>
              </a:spcBef>
              <a:spcAft>
                <a:spcPts val="0"/>
              </a:spcAft>
              <a:buNone/>
            </a:pPr>
            <a:r>
              <a:rPr b="1" lang="en">
                <a:solidFill>
                  <a:schemeClr val="dk2"/>
                </a:solidFill>
              </a:rPr>
              <a:t>1</a:t>
            </a:r>
            <a:r>
              <a:rPr lang="en">
                <a:solidFill>
                  <a:schemeClr val="dk2"/>
                </a:solidFill>
              </a:rPr>
              <a:t> = Fly</a:t>
            </a:r>
            <a:endParaRPr>
              <a:solidFill>
                <a:schemeClr val="dk2"/>
              </a:solidFill>
            </a:endParaRPr>
          </a:p>
          <a:p>
            <a:pPr indent="0" lvl="0" marL="0" rtl="0" algn="l">
              <a:spcBef>
                <a:spcPts val="0"/>
              </a:spcBef>
              <a:spcAft>
                <a:spcPts val="0"/>
              </a:spcAft>
              <a:buNone/>
            </a:pPr>
            <a:r>
              <a:rPr b="1" lang="en">
                <a:solidFill>
                  <a:schemeClr val="dk2"/>
                </a:solidFill>
              </a:rPr>
              <a:t>2 </a:t>
            </a:r>
            <a:r>
              <a:rPr lang="en">
                <a:solidFill>
                  <a:schemeClr val="dk2"/>
                </a:solidFill>
              </a:rPr>
              <a:t>= Bumblebee</a:t>
            </a:r>
            <a:endParaRPr>
              <a:solidFill>
                <a:schemeClr val="dk2"/>
              </a:solidFill>
            </a:endParaRPr>
          </a:p>
          <a:p>
            <a:pPr indent="0" lvl="0" marL="0" rtl="0" algn="l">
              <a:spcBef>
                <a:spcPts val="0"/>
              </a:spcBef>
              <a:spcAft>
                <a:spcPts val="0"/>
              </a:spcAft>
              <a:buNone/>
            </a:pPr>
            <a:r>
              <a:rPr b="1" lang="en">
                <a:solidFill>
                  <a:schemeClr val="dk2"/>
                </a:solidFill>
              </a:rPr>
              <a:t>3</a:t>
            </a:r>
            <a:r>
              <a:rPr lang="en">
                <a:solidFill>
                  <a:schemeClr val="dk2"/>
                </a:solidFill>
              </a:rPr>
              <a:t> = Butterfly</a:t>
            </a:r>
            <a:endParaRPr>
              <a:solidFill>
                <a:schemeClr val="dk2"/>
              </a:solidFill>
            </a:endParaRPr>
          </a:p>
          <a:p>
            <a:pPr indent="0" lvl="0" marL="0" rtl="0" algn="l">
              <a:spcBef>
                <a:spcPts val="0"/>
              </a:spcBef>
              <a:spcAft>
                <a:spcPts val="0"/>
              </a:spcAft>
              <a:buNone/>
            </a:pPr>
            <a:r>
              <a:rPr b="1" lang="en">
                <a:solidFill>
                  <a:schemeClr val="dk2"/>
                </a:solidFill>
              </a:rPr>
              <a:t>4</a:t>
            </a:r>
            <a:r>
              <a:rPr lang="en">
                <a:solidFill>
                  <a:schemeClr val="dk2"/>
                </a:solidFill>
              </a:rPr>
              <a:t> = Other</a:t>
            </a:r>
            <a:endParaRPr>
              <a:solidFill>
                <a:schemeClr val="dk2"/>
              </a:solidFill>
            </a:endParaRPr>
          </a:p>
          <a:p>
            <a:pPr indent="0" lvl="0" marL="0" rtl="0" algn="l">
              <a:spcBef>
                <a:spcPts val="0"/>
              </a:spcBef>
              <a:spcAft>
                <a:spcPts val="0"/>
              </a:spcAft>
              <a:buNone/>
            </a:pPr>
            <a:r>
              <a:rPr b="1" lang="en">
                <a:solidFill>
                  <a:schemeClr val="dk2"/>
                </a:solidFill>
              </a:rPr>
              <a:t>x </a:t>
            </a:r>
            <a:r>
              <a:rPr lang="en">
                <a:solidFill>
                  <a:schemeClr val="dk2"/>
                </a:solidFill>
              </a:rPr>
              <a:t>= Background</a:t>
            </a:r>
            <a:endParaRPr>
              <a:solidFill>
                <a:schemeClr val="dk2"/>
              </a:solidFill>
            </a:endParaRPr>
          </a:p>
          <a:p>
            <a:pPr indent="0" lvl="0" marL="0" rtl="0" algn="l">
              <a:spcBef>
                <a:spcPts val="0"/>
              </a:spcBef>
              <a:spcAft>
                <a:spcPts val="0"/>
              </a:spcAft>
              <a:buNone/>
            </a:pPr>
            <a:r>
              <a:rPr b="1" lang="en">
                <a:solidFill>
                  <a:schemeClr val="dk2"/>
                </a:solidFill>
              </a:rPr>
              <a:t>u </a:t>
            </a:r>
            <a:r>
              <a:rPr lang="en">
                <a:solidFill>
                  <a:schemeClr val="dk2"/>
                </a:solidFill>
              </a:rPr>
              <a:t>= Unsure (will not label at all)</a:t>
            </a:r>
            <a:endParaRPr>
              <a:solidFill>
                <a:schemeClr val="dk2"/>
              </a:solidFill>
            </a:endParaRPr>
          </a:p>
          <a:p>
            <a:pPr indent="0" lvl="0" marL="0" rtl="0" algn="l">
              <a:spcBef>
                <a:spcPts val="0"/>
              </a:spcBef>
              <a:spcAft>
                <a:spcPts val="0"/>
              </a:spcAft>
              <a:buNone/>
            </a:pPr>
            <a:r>
              <a:rPr b="1" lang="en">
                <a:solidFill>
                  <a:schemeClr val="dk2"/>
                </a:solidFill>
              </a:rPr>
              <a:t>y</a:t>
            </a:r>
            <a:r>
              <a:rPr lang="en">
                <a:solidFill>
                  <a:schemeClr val="dk2"/>
                </a:solidFill>
              </a:rPr>
              <a:t> = Include image in YOLO training</a:t>
            </a:r>
            <a:endParaRPr>
              <a:solidFill>
                <a:schemeClr val="dk2"/>
              </a:solidFill>
            </a:endParaRPr>
          </a:p>
          <a:p>
            <a:pPr indent="0" lvl="0" marL="0" rtl="0" algn="l">
              <a:spcBef>
                <a:spcPts val="0"/>
              </a:spcBef>
              <a:spcAft>
                <a:spcPts val="0"/>
              </a:spcAft>
              <a:buNone/>
            </a:pPr>
            <a:r>
              <a:rPr b="1" lang="en">
                <a:solidFill>
                  <a:schemeClr val="dk2"/>
                </a:solidFill>
              </a:rPr>
              <a:t>d</a:t>
            </a:r>
            <a:r>
              <a:rPr lang="en">
                <a:solidFill>
                  <a:schemeClr val="dk2"/>
                </a:solidFill>
              </a:rPr>
              <a:t> = remove selected image from slide (all visible crops still in the image are labeled as Background)</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You can batch label anything that is selected. In case you make a mistake there is a rewind option with </a:t>
            </a:r>
            <a:r>
              <a:rPr b="1" lang="en">
                <a:solidFill>
                  <a:schemeClr val="dk2"/>
                </a:solidFill>
              </a:rPr>
              <a:t>ctrl-z</a:t>
            </a:r>
            <a:r>
              <a:rPr lang="en">
                <a:solidFill>
                  <a:schemeClr val="dk2"/>
                </a:solidFill>
              </a:rPr>
              <a:t>.</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03" name="Google Shape;103;p17"/>
          <p:cNvSpPr txBox="1"/>
          <p:nvPr/>
        </p:nvSpPr>
        <p:spPr>
          <a:xfrm>
            <a:off x="834875" y="9059025"/>
            <a:ext cx="54630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 name="Google Shape;104;p17"/>
          <p:cNvSpPr txBox="1"/>
          <p:nvPr/>
        </p:nvSpPr>
        <p:spPr>
          <a:xfrm>
            <a:off x="455825" y="4621525"/>
            <a:ext cx="64107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Selecting crops for retraining of pollinator models</a:t>
            </a:r>
            <a:endParaRPr b="1" sz="1600">
              <a:solidFill>
                <a:schemeClr val="dk2"/>
              </a:solidFill>
            </a:endParaRPr>
          </a:p>
        </p:txBody>
      </p:sp>
      <p:sp>
        <p:nvSpPr>
          <p:cNvPr id="105" name="Google Shape;105;p17"/>
          <p:cNvSpPr txBox="1"/>
          <p:nvPr/>
        </p:nvSpPr>
        <p:spPr>
          <a:xfrm>
            <a:off x="455825" y="5090000"/>
            <a:ext cx="6410700" cy="12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Crops that you label will </a:t>
            </a:r>
            <a:r>
              <a:rPr lang="en">
                <a:solidFill>
                  <a:schemeClr val="dk2"/>
                </a:solidFill>
              </a:rPr>
              <a:t>automatically</a:t>
            </a:r>
            <a:r>
              <a:rPr lang="en">
                <a:solidFill>
                  <a:schemeClr val="dk2"/>
                </a:solidFill>
              </a:rPr>
              <a:t> be available to retrain the motion-based models, but not automatically for YOLO. In order to get quality data for the YOLO model to learn on you specifically select the “Include in YOLO training” </a:t>
            </a:r>
            <a:r>
              <a:rPr b="1" lang="en">
                <a:solidFill>
                  <a:srgbClr val="FF9900"/>
                </a:solidFill>
              </a:rPr>
              <a:t>(11)</a:t>
            </a:r>
            <a:r>
              <a:rPr lang="en">
                <a:solidFill>
                  <a:schemeClr val="dk2"/>
                </a:solidFill>
              </a:rPr>
              <a:t> checkbox. Make sure that all pollinators on those images are annotated, as that image is treated as ground-truth.</a:t>
            </a:r>
            <a:endParaRPr>
              <a:solidFill>
                <a:schemeClr val="dk2"/>
              </a:solidFill>
            </a:endParaRPr>
          </a:p>
        </p:txBody>
      </p:sp>
      <p:pic>
        <p:nvPicPr>
          <p:cNvPr id="106" name="Google Shape;106;p17"/>
          <p:cNvPicPr preferRelativeResize="0"/>
          <p:nvPr/>
        </p:nvPicPr>
        <p:blipFill>
          <a:blip r:embed="rId3">
            <a:alphaModFix/>
          </a:blip>
          <a:stretch>
            <a:fillRect/>
          </a:stretch>
        </p:blipFill>
        <p:spPr>
          <a:xfrm>
            <a:off x="409975" y="6508687"/>
            <a:ext cx="6740050" cy="4003038"/>
          </a:xfrm>
          <a:prstGeom prst="rect">
            <a:avLst/>
          </a:prstGeom>
          <a:noFill/>
          <a:ln>
            <a:noFill/>
          </a:ln>
        </p:spPr>
      </p:pic>
      <p:pic>
        <p:nvPicPr>
          <p:cNvPr id="107" name="Google Shape;107;p17"/>
          <p:cNvPicPr preferRelativeResize="0"/>
          <p:nvPr/>
        </p:nvPicPr>
        <p:blipFill>
          <a:blip r:embed="rId4">
            <a:alphaModFix/>
          </a:blip>
          <a:stretch>
            <a:fillRect/>
          </a:stretch>
        </p:blipFill>
        <p:spPr>
          <a:xfrm>
            <a:off x="5987350" y="6519563"/>
            <a:ext cx="388675" cy="4115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nvSpPr>
        <p:spPr>
          <a:xfrm>
            <a:off x="474500" y="694238"/>
            <a:ext cx="6379800" cy="31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In </a:t>
            </a:r>
            <a:r>
              <a:rPr b="1" lang="en">
                <a:solidFill>
                  <a:srgbClr val="FF9900"/>
                </a:solidFill>
              </a:rPr>
              <a:t>(12) </a:t>
            </a:r>
            <a:r>
              <a:rPr lang="en">
                <a:solidFill>
                  <a:schemeClr val="dk2"/>
                </a:solidFill>
              </a:rPr>
              <a:t>you will see how much confidence each model has to what label it has set. Often the models complement each other. Where YOLO missed a pollinator the Group classifier may have found one. If they both agree with high certainty that it is a fly then that is likely also the case.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a:solidFill>
                  <a:srgbClr val="FF9900"/>
                </a:solidFill>
              </a:rPr>
              <a:t>(13) </a:t>
            </a:r>
            <a:r>
              <a:rPr lang="en">
                <a:solidFill>
                  <a:schemeClr val="dk2"/>
                </a:solidFill>
              </a:rPr>
              <a:t>decides what color all boxes should have on the </a:t>
            </a:r>
            <a:r>
              <a:rPr b="1" lang="en">
                <a:solidFill>
                  <a:schemeClr val="dk2"/>
                </a:solidFill>
              </a:rPr>
              <a:t>Review page</a:t>
            </a:r>
            <a:r>
              <a:rPr lang="en">
                <a:solidFill>
                  <a:schemeClr val="dk2"/>
                </a:solidFill>
              </a:rPr>
              <a:t>. You may need to adjust these colors depending on what plot is explored, as they vary in color.</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You can tinker with thresholds in </a:t>
            </a:r>
            <a:r>
              <a:rPr b="1" lang="en">
                <a:solidFill>
                  <a:srgbClr val="FF9900"/>
                </a:solidFill>
              </a:rPr>
              <a:t>(14)</a:t>
            </a:r>
            <a:r>
              <a:rPr lang="en">
                <a:solidFill>
                  <a:schemeClr val="dk2"/>
                </a:solidFill>
              </a:rPr>
              <a:t>, this can be useful once the models has been trained with lots more data and reaches a recall rate near </a:t>
            </a:r>
            <a:r>
              <a:rPr lang="en">
                <a:solidFill>
                  <a:schemeClr val="dk2"/>
                </a:solidFill>
              </a:rPr>
              <a:t>0.</a:t>
            </a:r>
            <a:r>
              <a:rPr lang="en">
                <a:solidFill>
                  <a:schemeClr val="dk2"/>
                </a:solidFill>
              </a:rPr>
              <a:t>80-</a:t>
            </a:r>
            <a:r>
              <a:rPr lang="en">
                <a:solidFill>
                  <a:schemeClr val="dk2"/>
                </a:solidFill>
              </a:rPr>
              <a:t>0.</a:t>
            </a:r>
            <a:r>
              <a:rPr lang="en">
                <a:solidFill>
                  <a:schemeClr val="dk2"/>
                </a:solidFill>
              </a:rPr>
              <a:t>90 at a threshold over 0.5. Then it also pairs well with </a:t>
            </a:r>
            <a:r>
              <a:rPr b="1" lang="en">
                <a:solidFill>
                  <a:srgbClr val="FF9900"/>
                </a:solidFill>
              </a:rPr>
              <a:t>(15)</a:t>
            </a:r>
            <a:r>
              <a:rPr lang="en">
                <a:solidFill>
                  <a:schemeClr val="dk2"/>
                </a:solidFill>
              </a:rPr>
              <a:t> where everything over the thresholds limits are moved to the </a:t>
            </a:r>
            <a:r>
              <a:rPr b="1" lang="en">
                <a:solidFill>
                  <a:schemeClr val="dk2"/>
                </a:solidFill>
              </a:rPr>
              <a:t>Export page</a:t>
            </a:r>
            <a:r>
              <a:rPr lang="en">
                <a:solidFill>
                  <a:schemeClr val="dk2"/>
                </a:solidFill>
              </a:rPr>
              <a:t> (those crops are shown blue and you have an option to accept or remove them there).</a:t>
            </a:r>
            <a:endParaRPr>
              <a:solidFill>
                <a:schemeClr val="dk2"/>
              </a:solidFill>
            </a:endParaRPr>
          </a:p>
        </p:txBody>
      </p:sp>
      <p:sp>
        <p:nvSpPr>
          <p:cNvPr id="113" name="Google Shape;113;p18"/>
          <p:cNvSpPr txBox="1"/>
          <p:nvPr>
            <p:ph idx="12" type="sldNum"/>
          </p:nvPr>
        </p:nvSpPr>
        <p:spPr>
          <a:xfrm>
            <a:off x="7050513" y="92210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 name="Google Shape;114;p18"/>
          <p:cNvSpPr txBox="1"/>
          <p:nvPr/>
        </p:nvSpPr>
        <p:spPr>
          <a:xfrm>
            <a:off x="474500" y="213800"/>
            <a:ext cx="6379800" cy="4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Reading the data and adjusting thresholds</a:t>
            </a:r>
            <a:endParaRPr b="1" sz="1800">
              <a:solidFill>
                <a:schemeClr val="dk2"/>
              </a:solidFill>
            </a:endParaRPr>
          </a:p>
        </p:txBody>
      </p:sp>
      <p:sp>
        <p:nvSpPr>
          <p:cNvPr id="115" name="Google Shape;115;p18"/>
          <p:cNvSpPr txBox="1"/>
          <p:nvPr/>
        </p:nvSpPr>
        <p:spPr>
          <a:xfrm>
            <a:off x="616950" y="5996775"/>
            <a:ext cx="63261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You can go to the </a:t>
            </a:r>
            <a:r>
              <a:rPr b="1" lang="en">
                <a:solidFill>
                  <a:schemeClr val="dk2"/>
                </a:solidFill>
              </a:rPr>
              <a:t>Export page</a:t>
            </a:r>
            <a:r>
              <a:rPr lang="en">
                <a:solidFill>
                  <a:schemeClr val="dk2"/>
                </a:solidFill>
              </a:rPr>
              <a:t> by clicking the stepper </a:t>
            </a:r>
            <a:r>
              <a:rPr b="1" lang="en">
                <a:solidFill>
                  <a:srgbClr val="FF9900"/>
                </a:solidFill>
              </a:rPr>
              <a:t>(16)</a:t>
            </a:r>
            <a:r>
              <a:rPr lang="en">
                <a:solidFill>
                  <a:schemeClr val="dk2"/>
                </a:solidFill>
              </a:rPr>
              <a:t>.</a:t>
            </a:r>
            <a:endParaRPr>
              <a:solidFill>
                <a:schemeClr val="dk2"/>
              </a:solidFill>
            </a:endParaRPr>
          </a:p>
        </p:txBody>
      </p:sp>
      <p:pic>
        <p:nvPicPr>
          <p:cNvPr id="116" name="Google Shape;116;p18"/>
          <p:cNvPicPr preferRelativeResize="0"/>
          <p:nvPr/>
        </p:nvPicPr>
        <p:blipFill>
          <a:blip r:embed="rId3">
            <a:alphaModFix/>
          </a:blip>
          <a:stretch>
            <a:fillRect/>
          </a:stretch>
        </p:blipFill>
        <p:spPr>
          <a:xfrm>
            <a:off x="1026600" y="3944476"/>
            <a:ext cx="5506800" cy="1975025"/>
          </a:xfrm>
          <a:prstGeom prst="rect">
            <a:avLst/>
          </a:prstGeom>
          <a:noFill/>
          <a:ln>
            <a:noFill/>
          </a:ln>
        </p:spPr>
      </p:pic>
      <p:pic>
        <p:nvPicPr>
          <p:cNvPr id="117" name="Google Shape;117;p18"/>
          <p:cNvPicPr preferRelativeResize="0"/>
          <p:nvPr/>
        </p:nvPicPr>
        <p:blipFill>
          <a:blip r:embed="rId4">
            <a:alphaModFix/>
          </a:blip>
          <a:stretch>
            <a:fillRect/>
          </a:stretch>
        </p:blipFill>
        <p:spPr>
          <a:xfrm>
            <a:off x="3060025" y="4186000"/>
            <a:ext cx="539250" cy="539250"/>
          </a:xfrm>
          <a:prstGeom prst="rect">
            <a:avLst/>
          </a:prstGeom>
          <a:noFill/>
          <a:ln>
            <a:noFill/>
          </a:ln>
        </p:spPr>
      </p:pic>
      <p:pic>
        <p:nvPicPr>
          <p:cNvPr id="118" name="Google Shape;118;p18"/>
          <p:cNvPicPr preferRelativeResize="0"/>
          <p:nvPr/>
        </p:nvPicPr>
        <p:blipFill>
          <a:blip r:embed="rId5">
            <a:alphaModFix/>
          </a:blip>
          <a:stretch>
            <a:fillRect/>
          </a:stretch>
        </p:blipFill>
        <p:spPr>
          <a:xfrm>
            <a:off x="2057400" y="5080075"/>
            <a:ext cx="539250" cy="531863"/>
          </a:xfrm>
          <a:prstGeom prst="rect">
            <a:avLst/>
          </a:prstGeom>
          <a:noFill/>
          <a:ln>
            <a:noFill/>
          </a:ln>
        </p:spPr>
      </p:pic>
      <p:pic>
        <p:nvPicPr>
          <p:cNvPr id="119" name="Google Shape;119;p18"/>
          <p:cNvPicPr preferRelativeResize="0"/>
          <p:nvPr/>
        </p:nvPicPr>
        <p:blipFill>
          <a:blip r:embed="rId6">
            <a:alphaModFix/>
          </a:blip>
          <a:stretch>
            <a:fillRect/>
          </a:stretch>
        </p:blipFill>
        <p:spPr>
          <a:xfrm>
            <a:off x="5288775" y="4186000"/>
            <a:ext cx="539250" cy="539250"/>
          </a:xfrm>
          <a:prstGeom prst="rect">
            <a:avLst/>
          </a:prstGeom>
          <a:noFill/>
          <a:ln>
            <a:noFill/>
          </a:ln>
        </p:spPr>
      </p:pic>
      <p:pic>
        <p:nvPicPr>
          <p:cNvPr id="120" name="Google Shape;120;p18"/>
          <p:cNvPicPr preferRelativeResize="0"/>
          <p:nvPr/>
        </p:nvPicPr>
        <p:blipFill>
          <a:blip r:embed="rId7">
            <a:alphaModFix/>
          </a:blip>
          <a:stretch>
            <a:fillRect/>
          </a:stretch>
        </p:blipFill>
        <p:spPr>
          <a:xfrm>
            <a:off x="4042625" y="5008000"/>
            <a:ext cx="539250" cy="539250"/>
          </a:xfrm>
          <a:prstGeom prst="rect">
            <a:avLst/>
          </a:prstGeom>
          <a:noFill/>
          <a:ln>
            <a:noFill/>
          </a:ln>
        </p:spPr>
      </p:pic>
      <p:pic>
        <p:nvPicPr>
          <p:cNvPr id="121" name="Google Shape;121;p18"/>
          <p:cNvPicPr preferRelativeResize="0"/>
          <p:nvPr/>
        </p:nvPicPr>
        <p:blipFill>
          <a:blip r:embed="rId8">
            <a:alphaModFix/>
          </a:blip>
          <a:stretch>
            <a:fillRect/>
          </a:stretch>
        </p:blipFill>
        <p:spPr>
          <a:xfrm>
            <a:off x="436725" y="6613950"/>
            <a:ext cx="6686550" cy="447675"/>
          </a:xfrm>
          <a:prstGeom prst="rect">
            <a:avLst/>
          </a:prstGeom>
          <a:noFill/>
          <a:ln>
            <a:noFill/>
          </a:ln>
        </p:spPr>
      </p:pic>
      <p:pic>
        <p:nvPicPr>
          <p:cNvPr id="122" name="Google Shape;122;p18"/>
          <p:cNvPicPr preferRelativeResize="0"/>
          <p:nvPr/>
        </p:nvPicPr>
        <p:blipFill>
          <a:blip r:embed="rId9">
            <a:alphaModFix/>
          </a:blip>
          <a:stretch>
            <a:fillRect/>
          </a:stretch>
        </p:blipFill>
        <p:spPr>
          <a:xfrm>
            <a:off x="6511275" y="6550154"/>
            <a:ext cx="539250" cy="5709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19"/>
          <p:cNvSpPr txBox="1"/>
          <p:nvPr/>
        </p:nvSpPr>
        <p:spPr>
          <a:xfrm>
            <a:off x="435925" y="152400"/>
            <a:ext cx="6366000" cy="4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Export page</a:t>
            </a:r>
            <a:endParaRPr b="1" sz="1800">
              <a:solidFill>
                <a:schemeClr val="dk2"/>
              </a:solidFill>
            </a:endParaRPr>
          </a:p>
        </p:txBody>
      </p:sp>
      <p:sp>
        <p:nvSpPr>
          <p:cNvPr id="129" name="Google Shape;129;p19"/>
          <p:cNvSpPr txBox="1"/>
          <p:nvPr/>
        </p:nvSpPr>
        <p:spPr>
          <a:xfrm>
            <a:off x="496875" y="483725"/>
            <a:ext cx="6366000" cy="31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In the </a:t>
            </a:r>
            <a:r>
              <a:rPr b="1" lang="en">
                <a:solidFill>
                  <a:schemeClr val="dk2"/>
                </a:solidFill>
              </a:rPr>
              <a:t>Export page</a:t>
            </a:r>
            <a:r>
              <a:rPr lang="en">
                <a:solidFill>
                  <a:schemeClr val="dk2"/>
                </a:solidFill>
              </a:rPr>
              <a:t>, what is green is confirmed by you as a user. When there is overlap, the larger box is marked red </a:t>
            </a:r>
            <a:r>
              <a:rPr b="1" lang="en">
                <a:solidFill>
                  <a:srgbClr val="FF9900"/>
                </a:solidFill>
              </a:rPr>
              <a:t>(17)</a:t>
            </a:r>
            <a:r>
              <a:rPr lang="en">
                <a:solidFill>
                  <a:schemeClr val="dk2"/>
                </a:solidFill>
              </a:rPr>
              <a:t> and will not be exported unless you as a user click on it and mark it as OK on the right column, or directly on a box line in the image. This is in place so the tool does not count a pollinator</a:t>
            </a:r>
            <a:r>
              <a:rPr lang="en">
                <a:solidFill>
                  <a:schemeClr val="dk2"/>
                </a:solidFill>
              </a:rPr>
              <a:t> more than once.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Images in the slider are </a:t>
            </a:r>
            <a:r>
              <a:rPr b="1" lang="en">
                <a:solidFill>
                  <a:srgbClr val="38761D"/>
                </a:solidFill>
              </a:rPr>
              <a:t>green</a:t>
            </a:r>
            <a:r>
              <a:rPr lang="en">
                <a:solidFill>
                  <a:schemeClr val="dk2"/>
                </a:solidFill>
              </a:rPr>
              <a:t> if all OK or </a:t>
            </a:r>
            <a:r>
              <a:rPr b="1" lang="en">
                <a:solidFill>
                  <a:srgbClr val="FF0000"/>
                </a:solidFill>
              </a:rPr>
              <a:t>red </a:t>
            </a:r>
            <a:r>
              <a:rPr lang="en">
                <a:solidFill>
                  <a:schemeClr val="dk2"/>
                </a:solidFill>
              </a:rPr>
              <a:t>if there is at least one overlap. If you have enabled the “Suggest exports” toggle in </a:t>
            </a:r>
            <a:r>
              <a:rPr b="1" lang="en">
                <a:solidFill>
                  <a:schemeClr val="dk2"/>
                </a:solidFill>
              </a:rPr>
              <a:t>Review page</a:t>
            </a:r>
            <a:r>
              <a:rPr lang="en">
                <a:solidFill>
                  <a:schemeClr val="dk2"/>
                </a:solidFill>
              </a:rPr>
              <a:t>, all detections over the threshold limit are exported to this page and shown as </a:t>
            </a:r>
            <a:r>
              <a:rPr b="1" lang="en">
                <a:solidFill>
                  <a:srgbClr val="4A86E8"/>
                </a:solidFill>
              </a:rPr>
              <a:t>blue</a:t>
            </a:r>
            <a:r>
              <a:rPr lang="en">
                <a:solidFill>
                  <a:schemeClr val="dk2"/>
                </a:solidFill>
              </a:rPr>
              <a:t>.</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“Merge overlap” is related to intersection </a:t>
            </a:r>
            <a:r>
              <a:rPr lang="en">
                <a:solidFill>
                  <a:schemeClr val="dk2"/>
                </a:solidFill>
              </a:rPr>
              <a:t>over</a:t>
            </a:r>
            <a:r>
              <a:rPr lang="en">
                <a:solidFill>
                  <a:schemeClr val="dk2"/>
                </a:solidFill>
              </a:rPr>
              <a:t> union (IoU), lower value here will merge more aggressively (outer rectangle will be red). Also worth noting that if one rectangle has its middle point inside another rectangle, that rectangle becomes red </a:t>
            </a:r>
            <a:r>
              <a:rPr b="1" lang="en">
                <a:solidFill>
                  <a:srgbClr val="FF9900"/>
                </a:solidFill>
              </a:rPr>
              <a:t>(18)</a:t>
            </a:r>
            <a:r>
              <a:rPr lang="en">
                <a:solidFill>
                  <a:schemeClr val="dk2"/>
                </a:solidFill>
              </a:rPr>
              <a:t>.</a:t>
            </a:r>
            <a:endParaRPr>
              <a:solidFill>
                <a:schemeClr val="dk2"/>
              </a:solidFill>
            </a:endParaRPr>
          </a:p>
        </p:txBody>
      </p:sp>
      <p:sp>
        <p:nvSpPr>
          <p:cNvPr id="130" name="Google Shape;130;p19"/>
          <p:cNvSpPr txBox="1"/>
          <p:nvPr/>
        </p:nvSpPr>
        <p:spPr>
          <a:xfrm>
            <a:off x="435925" y="8574275"/>
            <a:ext cx="6426900" cy="208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Exporting CSV</a:t>
            </a:r>
            <a:r>
              <a:rPr b="1" lang="en">
                <a:solidFill>
                  <a:schemeClr val="dk2"/>
                </a:solidFill>
              </a:rPr>
              <a:t> </a:t>
            </a:r>
            <a:r>
              <a:rPr lang="en">
                <a:solidFill>
                  <a:schemeClr val="dk2"/>
                </a:solidFill>
              </a:rPr>
              <a:t>gives two options, </a:t>
            </a:r>
            <a:r>
              <a:rPr lang="en">
                <a:solidFill>
                  <a:schemeClr val="dk2"/>
                </a:solidFill>
              </a:rPr>
              <a:t>either “per image” which will include counts of all insect types, or “per crop”, which will include confidence scores per crop.</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Exporting crops will download a folder with all crops separated into subfolders based on what type they belong to, which is useful if you wish to train models outside of the application with Jupyter Notebooks.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Annotations can also be exported, it will save images with drawn boxes and ROI if it exists.</a:t>
            </a:r>
            <a:endParaRPr>
              <a:solidFill>
                <a:schemeClr val="dk2"/>
              </a:solidFill>
            </a:endParaRPr>
          </a:p>
        </p:txBody>
      </p:sp>
      <p:pic>
        <p:nvPicPr>
          <p:cNvPr id="131" name="Google Shape;131;p19"/>
          <p:cNvPicPr preferRelativeResize="0"/>
          <p:nvPr/>
        </p:nvPicPr>
        <p:blipFill>
          <a:blip r:embed="rId3">
            <a:alphaModFix/>
          </a:blip>
          <a:stretch>
            <a:fillRect/>
          </a:stretch>
        </p:blipFill>
        <p:spPr>
          <a:xfrm>
            <a:off x="0" y="3575600"/>
            <a:ext cx="7559998" cy="4928147"/>
          </a:xfrm>
          <a:prstGeom prst="rect">
            <a:avLst/>
          </a:prstGeom>
          <a:noFill/>
          <a:ln>
            <a:noFill/>
          </a:ln>
        </p:spPr>
      </p:pic>
      <p:pic>
        <p:nvPicPr>
          <p:cNvPr id="132" name="Google Shape;132;p19"/>
          <p:cNvPicPr preferRelativeResize="0"/>
          <p:nvPr/>
        </p:nvPicPr>
        <p:blipFill>
          <a:blip r:embed="rId4">
            <a:alphaModFix/>
          </a:blip>
          <a:stretch>
            <a:fillRect/>
          </a:stretch>
        </p:blipFill>
        <p:spPr>
          <a:xfrm>
            <a:off x="6741898" y="2482873"/>
            <a:ext cx="818100" cy="818100"/>
          </a:xfrm>
          <a:prstGeom prst="rect">
            <a:avLst/>
          </a:prstGeom>
          <a:noFill/>
          <a:ln>
            <a:noFill/>
          </a:ln>
        </p:spPr>
      </p:pic>
      <p:sp>
        <p:nvSpPr>
          <p:cNvPr id="133" name="Google Shape;133;p19"/>
          <p:cNvSpPr txBox="1"/>
          <p:nvPr/>
        </p:nvSpPr>
        <p:spPr>
          <a:xfrm>
            <a:off x="6771750" y="3141250"/>
            <a:ext cx="758400" cy="26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IoU of 0.5</a:t>
            </a:r>
            <a:endParaRPr sz="1000">
              <a:solidFill>
                <a:schemeClr val="dk2"/>
              </a:solidFill>
            </a:endParaRPr>
          </a:p>
        </p:txBody>
      </p:sp>
      <p:pic>
        <p:nvPicPr>
          <p:cNvPr id="134" name="Google Shape;134;p19"/>
          <p:cNvPicPr preferRelativeResize="0"/>
          <p:nvPr/>
        </p:nvPicPr>
        <p:blipFill>
          <a:blip r:embed="rId5">
            <a:alphaModFix/>
          </a:blip>
          <a:stretch>
            <a:fillRect/>
          </a:stretch>
        </p:blipFill>
        <p:spPr>
          <a:xfrm>
            <a:off x="4866475" y="5600700"/>
            <a:ext cx="399925" cy="411351"/>
          </a:xfrm>
          <a:prstGeom prst="rect">
            <a:avLst/>
          </a:prstGeom>
          <a:noFill/>
          <a:ln>
            <a:noFill/>
          </a:ln>
        </p:spPr>
      </p:pic>
      <p:pic>
        <p:nvPicPr>
          <p:cNvPr id="135" name="Google Shape;135;p19"/>
          <p:cNvPicPr preferRelativeResize="0"/>
          <p:nvPr/>
        </p:nvPicPr>
        <p:blipFill>
          <a:blip r:embed="rId6">
            <a:alphaModFix/>
          </a:blip>
          <a:stretch>
            <a:fillRect/>
          </a:stretch>
        </p:blipFill>
        <p:spPr>
          <a:xfrm>
            <a:off x="7007675" y="152400"/>
            <a:ext cx="399925" cy="399925"/>
          </a:xfrm>
          <a:prstGeom prst="rect">
            <a:avLst/>
          </a:prstGeom>
          <a:noFill/>
          <a:ln>
            <a:noFill/>
          </a:ln>
        </p:spPr>
      </p:pic>
      <p:pic>
        <p:nvPicPr>
          <p:cNvPr id="136" name="Google Shape;136;p19"/>
          <p:cNvPicPr preferRelativeResize="0"/>
          <p:nvPr/>
        </p:nvPicPr>
        <p:blipFill>
          <a:blip r:embed="rId6">
            <a:alphaModFix/>
          </a:blip>
          <a:stretch>
            <a:fillRect/>
          </a:stretch>
        </p:blipFill>
        <p:spPr>
          <a:xfrm>
            <a:off x="4073975" y="6193138"/>
            <a:ext cx="399925" cy="399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2" name="Google Shape;142;p20"/>
          <p:cNvPicPr preferRelativeResize="0"/>
          <p:nvPr/>
        </p:nvPicPr>
        <p:blipFill>
          <a:blip r:embed="rId3">
            <a:alphaModFix/>
          </a:blip>
          <a:stretch>
            <a:fillRect/>
          </a:stretch>
        </p:blipFill>
        <p:spPr>
          <a:xfrm>
            <a:off x="640438" y="2196328"/>
            <a:ext cx="6279125" cy="7022317"/>
          </a:xfrm>
          <a:prstGeom prst="rect">
            <a:avLst/>
          </a:prstGeom>
          <a:noFill/>
          <a:ln>
            <a:noFill/>
          </a:ln>
        </p:spPr>
      </p:pic>
      <p:sp>
        <p:nvSpPr>
          <p:cNvPr id="143" name="Google Shape;143;p20"/>
          <p:cNvSpPr txBox="1"/>
          <p:nvPr/>
        </p:nvSpPr>
        <p:spPr>
          <a:xfrm>
            <a:off x="579600" y="635125"/>
            <a:ext cx="6400800" cy="15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Review layout has two different views: “image-first” and “crop-first”. Image-first is the newest edition and in general what you want to use. Using crop-first will get really messy if you are running on 1000+ images, but it can be useful to filter detections into classes.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You can also change key shortcuts if you want to set it up in a way you prefer. </a:t>
            </a:r>
            <a:endParaRPr>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