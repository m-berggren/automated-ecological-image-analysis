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8">
          <p15:clr>
            <a:srgbClr val="747775"/>
          </p15:clr>
        </p15:guide>
        <p15:guide id="2" pos="238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8" orient="horz"/>
        <p:guide pos="2381"/>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37"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217037"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e717b49e24_0_8:notes"/>
          <p:cNvSpPr/>
          <p:nvPr>
            <p:ph idx="2" type="sldImg"/>
          </p:nvPr>
        </p:nvSpPr>
        <p:spPr>
          <a:xfrm>
            <a:off x="2217037"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e717b49e2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ed3d9aa759_0_1:notes"/>
          <p:cNvSpPr/>
          <p:nvPr>
            <p:ph idx="2" type="sldImg"/>
          </p:nvPr>
        </p:nvSpPr>
        <p:spPr>
          <a:xfrm>
            <a:off x="2217037"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ed3d9aa75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e717b49e24_0_24:notes"/>
          <p:cNvSpPr/>
          <p:nvPr>
            <p:ph idx="2" type="sldImg"/>
          </p:nvPr>
        </p:nvSpPr>
        <p:spPr>
          <a:xfrm>
            <a:off x="2217037"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e717b49e2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d3d9aa759_0_13:notes"/>
          <p:cNvSpPr/>
          <p:nvPr>
            <p:ph idx="2" type="sldImg"/>
          </p:nvPr>
        </p:nvSpPr>
        <p:spPr>
          <a:xfrm>
            <a:off x="2217037"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ed3d9aa75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ed3d9aa759_0_26:notes"/>
          <p:cNvSpPr/>
          <p:nvPr>
            <p:ph idx="2" type="sldImg"/>
          </p:nvPr>
        </p:nvSpPr>
        <p:spPr>
          <a:xfrm>
            <a:off x="2217037"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ed3d9aa75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57712" y="1547778"/>
            <a:ext cx="7044600" cy="426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57705" y="5891409"/>
            <a:ext cx="7044600" cy="1647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57705" y="4471058"/>
            <a:ext cx="7044600" cy="1749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57705" y="925091"/>
            <a:ext cx="7044600" cy="11904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57705" y="2395696"/>
            <a:ext cx="7044600" cy="7101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57705" y="925091"/>
            <a:ext cx="7044600" cy="11904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57705" y="2395696"/>
            <a:ext cx="3306900" cy="7101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3995291" y="2395696"/>
            <a:ext cx="3306900" cy="7101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57705" y="925091"/>
            <a:ext cx="7044600" cy="11904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57705" y="1154948"/>
            <a:ext cx="2321700" cy="15711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57705" y="2888617"/>
            <a:ext cx="2321700" cy="660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05325" y="935745"/>
            <a:ext cx="5264700" cy="85035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780000" y="-260"/>
            <a:ext cx="3780000" cy="10692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19508" y="2563450"/>
            <a:ext cx="3344400" cy="3081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19508" y="5826865"/>
            <a:ext cx="3344400" cy="2567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083839" y="1505164"/>
            <a:ext cx="3172200" cy="76812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57705" y="8794266"/>
            <a:ext cx="4959600" cy="12576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57705" y="2299346"/>
            <a:ext cx="7044600" cy="40818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57705" y="6552657"/>
            <a:ext cx="7044600" cy="2703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2.png"/><Relationship Id="rId4" Type="http://schemas.openxmlformats.org/officeDocument/2006/relationships/image" Target="../media/image9.png"/><Relationship Id="rId9"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16.png"/><Relationship Id="rId8"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4.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21.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12.png"/><Relationship Id="rId5"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457879" y="183593"/>
            <a:ext cx="3748800" cy="62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chemeClr val="dk2"/>
                </a:solidFill>
              </a:rPr>
              <a:t>Seed module</a:t>
            </a:r>
            <a:endParaRPr b="1" sz="3000">
              <a:solidFill>
                <a:schemeClr val="dk2"/>
              </a:solidFill>
            </a:endParaRPr>
          </a:p>
        </p:txBody>
      </p:sp>
      <p:sp>
        <p:nvSpPr>
          <p:cNvPr id="55" name="Google Shape;55;p13"/>
          <p:cNvSpPr txBox="1"/>
          <p:nvPr/>
        </p:nvSpPr>
        <p:spPr>
          <a:xfrm>
            <a:off x="534600" y="1360938"/>
            <a:ext cx="6388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Set a </a:t>
            </a:r>
            <a:r>
              <a:rPr b="1" lang="en">
                <a:solidFill>
                  <a:schemeClr val="dk2"/>
                </a:solidFill>
              </a:rPr>
              <a:t>name </a:t>
            </a:r>
            <a:r>
              <a:rPr lang="en">
                <a:solidFill>
                  <a:schemeClr val="dk2"/>
                </a:solidFill>
              </a:rPr>
              <a:t>for the batch and optionally add a small </a:t>
            </a:r>
            <a:r>
              <a:rPr b="1" lang="en">
                <a:solidFill>
                  <a:schemeClr val="dk2"/>
                </a:solidFill>
              </a:rPr>
              <a:t>description/notes</a:t>
            </a:r>
            <a:r>
              <a:rPr lang="en">
                <a:solidFill>
                  <a:schemeClr val="dk2"/>
                </a:solidFill>
              </a:rPr>
              <a:t> for the run. </a:t>
            </a:r>
            <a:endParaRPr>
              <a:solidFill>
                <a:schemeClr val="dk2"/>
              </a:solidFill>
            </a:endParaRPr>
          </a:p>
        </p:txBody>
      </p:sp>
      <p:sp>
        <p:nvSpPr>
          <p:cNvPr id="56" name="Google Shape;56;p13"/>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7" name="Google Shape;57;p13"/>
          <p:cNvSpPr txBox="1"/>
          <p:nvPr/>
        </p:nvSpPr>
        <p:spPr>
          <a:xfrm>
            <a:off x="534600" y="809405"/>
            <a:ext cx="5920200" cy="4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Uploading images and running inference</a:t>
            </a:r>
            <a:endParaRPr b="1" sz="1800">
              <a:solidFill>
                <a:schemeClr val="dk2"/>
              </a:solidFill>
            </a:endParaRPr>
          </a:p>
        </p:txBody>
      </p:sp>
      <p:sp>
        <p:nvSpPr>
          <p:cNvPr id="58" name="Google Shape;58;p13"/>
          <p:cNvSpPr txBox="1"/>
          <p:nvPr/>
        </p:nvSpPr>
        <p:spPr>
          <a:xfrm>
            <a:off x="457875" y="7145525"/>
            <a:ext cx="63885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Then, select a desired model to use for the run by first clicking the correct species name</a:t>
            </a:r>
            <a:r>
              <a:rPr b="1" lang="en">
                <a:solidFill>
                  <a:srgbClr val="FF9900"/>
                </a:solidFill>
              </a:rPr>
              <a:t>(1)</a:t>
            </a:r>
            <a:r>
              <a:rPr lang="en">
                <a:solidFill>
                  <a:schemeClr val="dk2"/>
                </a:solidFill>
              </a:rPr>
              <a:t> and then selecting an available model for that species</a:t>
            </a:r>
            <a:r>
              <a:rPr b="1" lang="en">
                <a:solidFill>
                  <a:srgbClr val="FF9900"/>
                </a:solidFill>
              </a:rPr>
              <a:t>(2)</a:t>
            </a:r>
            <a:r>
              <a:rPr lang="en">
                <a:solidFill>
                  <a:schemeClr val="dk2"/>
                </a:solidFill>
              </a:rPr>
              <a:t>. Since the models are trained on specific species, it is important to </a:t>
            </a:r>
            <a:r>
              <a:rPr b="1" lang="en">
                <a:solidFill>
                  <a:schemeClr val="dk2"/>
                </a:solidFill>
              </a:rPr>
              <a:t>pick a model which matches the species of the batch.</a:t>
            </a:r>
            <a:endParaRPr b="1">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Once a model is selected, optionally adjust the settings (confidence threshold</a:t>
            </a:r>
            <a:r>
              <a:rPr b="1" lang="en">
                <a:solidFill>
                  <a:srgbClr val="FF9900"/>
                </a:solidFill>
              </a:rPr>
              <a:t>(3)</a:t>
            </a:r>
            <a:r>
              <a:rPr lang="en">
                <a:solidFill>
                  <a:schemeClr val="dk2"/>
                </a:solidFill>
              </a:rPr>
              <a:t>, SAHI slice overlap</a:t>
            </a:r>
            <a:r>
              <a:rPr b="1" lang="en">
                <a:solidFill>
                  <a:srgbClr val="FF9900"/>
                </a:solidFill>
              </a:rPr>
              <a:t>(4)</a:t>
            </a:r>
            <a:r>
              <a:rPr lang="en">
                <a:solidFill>
                  <a:schemeClr val="dk2"/>
                </a:solidFill>
              </a:rPr>
              <a:t>).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b="1">
              <a:solidFill>
                <a:schemeClr val="dk2"/>
              </a:solidFill>
            </a:endParaRPr>
          </a:p>
        </p:txBody>
      </p:sp>
      <p:sp>
        <p:nvSpPr>
          <p:cNvPr id="59" name="Google Shape;59;p13"/>
          <p:cNvSpPr txBox="1"/>
          <p:nvPr/>
        </p:nvSpPr>
        <p:spPr>
          <a:xfrm>
            <a:off x="5612200" y="5668037"/>
            <a:ext cx="18462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b="1" lang="en" sz="1200">
                <a:solidFill>
                  <a:schemeClr val="dk2"/>
                </a:solidFill>
              </a:rPr>
              <a:t>Note: </a:t>
            </a:r>
            <a:r>
              <a:rPr lang="en" sz="1200">
                <a:solidFill>
                  <a:schemeClr val="dk2"/>
                </a:solidFill>
              </a:rPr>
              <a:t>The default settings are the settings found to produce the best results from the models used during the research phase.</a:t>
            </a:r>
            <a:endParaRPr sz="1200"/>
          </a:p>
        </p:txBody>
      </p:sp>
      <p:pic>
        <p:nvPicPr>
          <p:cNvPr id="60" name="Google Shape;60;p13"/>
          <p:cNvPicPr preferRelativeResize="0"/>
          <p:nvPr/>
        </p:nvPicPr>
        <p:blipFill rotWithShape="1">
          <a:blip r:embed="rId3">
            <a:alphaModFix/>
          </a:blip>
          <a:srcRect b="0" l="31246" r="19173" t="0"/>
          <a:stretch/>
        </p:blipFill>
        <p:spPr>
          <a:xfrm>
            <a:off x="1416757" y="1976550"/>
            <a:ext cx="4139024" cy="5039999"/>
          </a:xfrm>
          <a:prstGeom prst="rect">
            <a:avLst/>
          </a:prstGeom>
          <a:noFill/>
          <a:ln>
            <a:noFill/>
          </a:ln>
        </p:spPr>
      </p:pic>
      <p:pic>
        <p:nvPicPr>
          <p:cNvPr id="61" name="Google Shape;61;p13"/>
          <p:cNvPicPr preferRelativeResize="0"/>
          <p:nvPr/>
        </p:nvPicPr>
        <p:blipFill>
          <a:blip r:embed="rId4">
            <a:alphaModFix/>
          </a:blip>
          <a:stretch>
            <a:fillRect/>
          </a:stretch>
        </p:blipFill>
        <p:spPr>
          <a:xfrm>
            <a:off x="1736150" y="4321345"/>
            <a:ext cx="300525" cy="305630"/>
          </a:xfrm>
          <a:prstGeom prst="rect">
            <a:avLst/>
          </a:prstGeom>
          <a:noFill/>
          <a:ln>
            <a:noFill/>
          </a:ln>
        </p:spPr>
      </p:pic>
      <p:pic>
        <p:nvPicPr>
          <p:cNvPr id="62" name="Google Shape;62;p13"/>
          <p:cNvPicPr preferRelativeResize="0"/>
          <p:nvPr/>
        </p:nvPicPr>
        <p:blipFill>
          <a:blip r:embed="rId5">
            <a:alphaModFix/>
          </a:blip>
          <a:stretch>
            <a:fillRect/>
          </a:stretch>
        </p:blipFill>
        <p:spPr>
          <a:xfrm>
            <a:off x="1736150" y="5152402"/>
            <a:ext cx="300525" cy="300525"/>
          </a:xfrm>
          <a:prstGeom prst="rect">
            <a:avLst/>
          </a:prstGeom>
          <a:noFill/>
          <a:ln>
            <a:noFill/>
          </a:ln>
        </p:spPr>
      </p:pic>
      <p:pic>
        <p:nvPicPr>
          <p:cNvPr id="63" name="Google Shape;63;p13"/>
          <p:cNvPicPr preferRelativeResize="0"/>
          <p:nvPr/>
        </p:nvPicPr>
        <p:blipFill>
          <a:blip r:embed="rId6">
            <a:alphaModFix/>
          </a:blip>
          <a:stretch>
            <a:fillRect/>
          </a:stretch>
        </p:blipFill>
        <p:spPr>
          <a:xfrm>
            <a:off x="2661625" y="5668025"/>
            <a:ext cx="300528" cy="300500"/>
          </a:xfrm>
          <a:prstGeom prst="rect">
            <a:avLst/>
          </a:prstGeom>
          <a:noFill/>
          <a:ln>
            <a:noFill/>
          </a:ln>
        </p:spPr>
      </p:pic>
      <p:pic>
        <p:nvPicPr>
          <p:cNvPr id="64" name="Google Shape;64;p13"/>
          <p:cNvPicPr preferRelativeResize="0"/>
          <p:nvPr/>
        </p:nvPicPr>
        <p:blipFill>
          <a:blip r:embed="rId7">
            <a:alphaModFix/>
          </a:blip>
          <a:stretch>
            <a:fillRect/>
          </a:stretch>
        </p:blipFill>
        <p:spPr>
          <a:xfrm>
            <a:off x="3472250" y="5663778"/>
            <a:ext cx="300525" cy="300494"/>
          </a:xfrm>
          <a:prstGeom prst="rect">
            <a:avLst/>
          </a:prstGeom>
          <a:noFill/>
          <a:ln>
            <a:noFill/>
          </a:ln>
        </p:spPr>
      </p:pic>
      <p:pic>
        <p:nvPicPr>
          <p:cNvPr id="65" name="Google Shape;65;p13"/>
          <p:cNvPicPr preferRelativeResize="0"/>
          <p:nvPr/>
        </p:nvPicPr>
        <p:blipFill rotWithShape="1">
          <a:blip r:embed="rId8">
            <a:alphaModFix/>
          </a:blip>
          <a:srcRect b="0" l="2280" r="3113" t="0"/>
          <a:stretch/>
        </p:blipFill>
        <p:spPr>
          <a:xfrm>
            <a:off x="3422725" y="8949825"/>
            <a:ext cx="4001474" cy="678825"/>
          </a:xfrm>
          <a:prstGeom prst="rect">
            <a:avLst/>
          </a:prstGeom>
          <a:noFill/>
          <a:ln>
            <a:noFill/>
          </a:ln>
        </p:spPr>
      </p:pic>
      <p:sp>
        <p:nvSpPr>
          <p:cNvPr id="66" name="Google Shape;66;p13"/>
          <p:cNvSpPr txBox="1"/>
          <p:nvPr/>
        </p:nvSpPr>
        <p:spPr>
          <a:xfrm>
            <a:off x="534600" y="8777550"/>
            <a:ext cx="2614200" cy="85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2"/>
                </a:solidFill>
              </a:rPr>
              <a:t>Proceed to upload your images by clicking “browse files/browse folder”. Once the pictures are uploaded, proceed to inference by clicking “Start Detection” </a:t>
            </a:r>
            <a:r>
              <a:rPr b="1" lang="en">
                <a:solidFill>
                  <a:srgbClr val="FF9900"/>
                </a:solidFill>
              </a:rPr>
              <a:t>(5)</a:t>
            </a:r>
            <a:r>
              <a:rPr lang="en">
                <a:solidFill>
                  <a:schemeClr val="dk2"/>
                </a:solidFill>
              </a:rPr>
              <a:t>.</a:t>
            </a:r>
            <a:endParaRPr>
              <a:solidFill>
                <a:schemeClr val="dk2"/>
              </a:solidFill>
            </a:endParaRPr>
          </a:p>
          <a:p>
            <a:pPr indent="0" lvl="0" marL="0" rtl="0" algn="l">
              <a:spcBef>
                <a:spcPts val="0"/>
              </a:spcBef>
              <a:spcAft>
                <a:spcPts val="0"/>
              </a:spcAft>
              <a:buClr>
                <a:schemeClr val="dk1"/>
              </a:buClr>
              <a:buSzPts val="1100"/>
              <a:buFont typeface="Arial"/>
              <a:buNone/>
            </a:pPr>
            <a:r>
              <a:t/>
            </a:r>
            <a:endParaRPr>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67" name="Google Shape;67;p13"/>
          <p:cNvSpPr txBox="1"/>
          <p:nvPr/>
        </p:nvSpPr>
        <p:spPr>
          <a:xfrm>
            <a:off x="3422725" y="9578785"/>
            <a:ext cx="3816900" cy="55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chemeClr val="dk2"/>
                </a:solidFill>
              </a:rPr>
              <a:t>Note:</a:t>
            </a:r>
            <a:r>
              <a:rPr lang="en" sz="1200">
                <a:solidFill>
                  <a:schemeClr val="dk2"/>
                </a:solidFill>
              </a:rPr>
              <a:t> </a:t>
            </a:r>
            <a:r>
              <a:rPr lang="en" sz="1200">
                <a:solidFill>
                  <a:schemeClr val="dk2"/>
                </a:solidFill>
              </a:rPr>
              <a:t>Make sure that the image either contains a label with the species name or contains the species name in the image file title. Otherwise, the file may need to be force uploaded which can cause worse prediction results. </a:t>
            </a:r>
            <a:endParaRPr sz="12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68" name="Google Shape;68;p13"/>
          <p:cNvPicPr preferRelativeResize="0"/>
          <p:nvPr/>
        </p:nvPicPr>
        <p:blipFill>
          <a:blip r:embed="rId9">
            <a:alphaModFix/>
          </a:blip>
          <a:stretch>
            <a:fillRect/>
          </a:stretch>
        </p:blipFill>
        <p:spPr>
          <a:xfrm>
            <a:off x="6891538" y="8804569"/>
            <a:ext cx="267875" cy="26348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nvSpPr>
        <p:spPr>
          <a:xfrm>
            <a:off x="455250" y="1266523"/>
            <a:ext cx="6421800" cy="12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Once the image batch is uploaded and inference begins, the user is </a:t>
            </a:r>
            <a:r>
              <a:rPr lang="en">
                <a:solidFill>
                  <a:schemeClr val="dk2"/>
                </a:solidFill>
              </a:rPr>
              <a:t>redirected to </a:t>
            </a:r>
            <a:r>
              <a:rPr lang="en">
                <a:solidFill>
                  <a:schemeClr val="dk2"/>
                </a:solidFill>
              </a:rPr>
              <a:t> the </a:t>
            </a:r>
            <a:r>
              <a:rPr b="1" lang="en">
                <a:solidFill>
                  <a:schemeClr val="dk2"/>
                </a:solidFill>
              </a:rPr>
              <a:t>“Detect”</a:t>
            </a:r>
            <a:r>
              <a:rPr lang="en">
                <a:solidFill>
                  <a:schemeClr val="dk2"/>
                </a:solidFill>
              </a:rPr>
              <a:t> page where they can view the inference process through a progress bar. No options to navigate forward are available until a run is complete. </a:t>
            </a:r>
            <a:endParaRPr>
              <a:solidFill>
                <a:schemeClr val="dk2"/>
              </a:solidFill>
            </a:endParaRPr>
          </a:p>
        </p:txBody>
      </p:sp>
      <p:sp>
        <p:nvSpPr>
          <p:cNvPr id="74" name="Google Shape;74;p14"/>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75" name="Google Shape;75;p14"/>
          <p:cNvPicPr preferRelativeResize="0"/>
          <p:nvPr/>
        </p:nvPicPr>
        <p:blipFill rotWithShape="1">
          <a:blip r:embed="rId3">
            <a:alphaModFix/>
          </a:blip>
          <a:srcRect b="0" l="15846" r="0" t="0"/>
          <a:stretch/>
        </p:blipFill>
        <p:spPr>
          <a:xfrm>
            <a:off x="0" y="2899493"/>
            <a:ext cx="7560001" cy="4444844"/>
          </a:xfrm>
          <a:prstGeom prst="rect">
            <a:avLst/>
          </a:prstGeom>
          <a:noFill/>
          <a:ln>
            <a:noFill/>
          </a:ln>
        </p:spPr>
      </p:pic>
      <p:sp>
        <p:nvSpPr>
          <p:cNvPr id="76" name="Google Shape;76;p14"/>
          <p:cNvSpPr txBox="1"/>
          <p:nvPr/>
        </p:nvSpPr>
        <p:spPr>
          <a:xfrm>
            <a:off x="455825" y="536750"/>
            <a:ext cx="5920200" cy="4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Following the detection process</a:t>
            </a:r>
            <a:endParaRPr b="1"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82" name="Google Shape;82;p15"/>
          <p:cNvPicPr preferRelativeResize="0"/>
          <p:nvPr/>
        </p:nvPicPr>
        <p:blipFill rotWithShape="1">
          <a:blip r:embed="rId3">
            <a:alphaModFix/>
          </a:blip>
          <a:srcRect b="27725" l="26878" r="10265" t="0"/>
          <a:stretch/>
        </p:blipFill>
        <p:spPr>
          <a:xfrm>
            <a:off x="0" y="2113118"/>
            <a:ext cx="7560001" cy="4517529"/>
          </a:xfrm>
          <a:prstGeom prst="rect">
            <a:avLst/>
          </a:prstGeom>
          <a:noFill/>
          <a:ln>
            <a:noFill/>
          </a:ln>
        </p:spPr>
      </p:pic>
      <p:sp>
        <p:nvSpPr>
          <p:cNvPr id="83" name="Google Shape;83;p15"/>
          <p:cNvSpPr txBox="1"/>
          <p:nvPr/>
        </p:nvSpPr>
        <p:spPr>
          <a:xfrm>
            <a:off x="574650" y="676277"/>
            <a:ext cx="6410700" cy="90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Once the inference run is complete, click “Set Reference Seed”</a:t>
            </a:r>
            <a:r>
              <a:rPr b="1" lang="en">
                <a:solidFill>
                  <a:schemeClr val="dk2"/>
                </a:solidFill>
              </a:rPr>
              <a:t> </a:t>
            </a:r>
            <a:r>
              <a:rPr b="1" lang="en">
                <a:solidFill>
                  <a:srgbClr val="FF9900"/>
                </a:solidFill>
              </a:rPr>
              <a:t>(6)</a:t>
            </a:r>
            <a:r>
              <a:rPr b="1" lang="en">
                <a:solidFill>
                  <a:schemeClr val="dk2"/>
                </a:solidFill>
              </a:rPr>
              <a:t> </a:t>
            </a:r>
            <a:r>
              <a:rPr lang="en">
                <a:solidFill>
                  <a:schemeClr val="dk2"/>
                </a:solidFill>
              </a:rPr>
              <a:t>in order to be redirected to the next page where a reference seed is selected for each image in the batch. </a:t>
            </a:r>
            <a:endParaRPr>
              <a:solidFill>
                <a:schemeClr val="dk2"/>
              </a:solidFill>
            </a:endParaRPr>
          </a:p>
          <a:p>
            <a:pPr indent="0" lvl="0" marL="0" rtl="0" algn="l">
              <a:spcBef>
                <a:spcPts val="0"/>
              </a:spcBef>
              <a:spcAft>
                <a:spcPts val="0"/>
              </a:spcAft>
              <a:buNone/>
            </a:pPr>
            <a:r>
              <a:t/>
            </a:r>
            <a:endParaRPr>
              <a:solidFill>
                <a:schemeClr val="dk2"/>
              </a:solidFill>
            </a:endParaRPr>
          </a:p>
        </p:txBody>
      </p:sp>
      <p:pic>
        <p:nvPicPr>
          <p:cNvPr id="84" name="Google Shape;84;p15"/>
          <p:cNvPicPr preferRelativeResize="0"/>
          <p:nvPr/>
        </p:nvPicPr>
        <p:blipFill>
          <a:blip r:embed="rId4">
            <a:alphaModFix/>
          </a:blip>
          <a:stretch>
            <a:fillRect/>
          </a:stretch>
        </p:blipFill>
        <p:spPr>
          <a:xfrm>
            <a:off x="152400" y="8412896"/>
            <a:ext cx="7255201" cy="1500780"/>
          </a:xfrm>
          <a:prstGeom prst="rect">
            <a:avLst/>
          </a:prstGeom>
          <a:noFill/>
          <a:ln>
            <a:noFill/>
          </a:ln>
        </p:spPr>
      </p:pic>
      <p:cxnSp>
        <p:nvCxnSpPr>
          <p:cNvPr id="85" name="Google Shape;85;p15"/>
          <p:cNvCxnSpPr/>
          <p:nvPr/>
        </p:nvCxnSpPr>
        <p:spPr>
          <a:xfrm flipH="1">
            <a:off x="1121950" y="5404950"/>
            <a:ext cx="539700" cy="2804700"/>
          </a:xfrm>
          <a:prstGeom prst="straightConnector1">
            <a:avLst/>
          </a:prstGeom>
          <a:noFill/>
          <a:ln cap="flat" cmpd="sng" w="38100">
            <a:solidFill>
              <a:schemeClr val="dk2"/>
            </a:solidFill>
            <a:prstDash val="solid"/>
            <a:round/>
            <a:headEnd len="med" w="med" type="none"/>
            <a:tailEnd len="med" w="med" type="triangle"/>
          </a:ln>
        </p:spPr>
      </p:cxnSp>
      <p:sp>
        <p:nvSpPr>
          <p:cNvPr id="86" name="Google Shape;86;p15"/>
          <p:cNvSpPr txBox="1"/>
          <p:nvPr/>
        </p:nvSpPr>
        <p:spPr>
          <a:xfrm>
            <a:off x="1446600" y="7268045"/>
            <a:ext cx="5961000" cy="90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If the </a:t>
            </a:r>
            <a:r>
              <a:rPr lang="en">
                <a:solidFill>
                  <a:schemeClr val="dk2"/>
                </a:solidFill>
              </a:rPr>
              <a:t>user wishes</a:t>
            </a:r>
            <a:r>
              <a:rPr lang="en">
                <a:solidFill>
                  <a:schemeClr val="dk2"/>
                </a:solidFill>
              </a:rPr>
              <a:t> to see the </a:t>
            </a:r>
            <a:r>
              <a:rPr lang="en">
                <a:solidFill>
                  <a:schemeClr val="dk2"/>
                </a:solidFill>
              </a:rPr>
              <a:t>configurations</a:t>
            </a:r>
            <a:r>
              <a:rPr lang="en">
                <a:solidFill>
                  <a:schemeClr val="dk2"/>
                </a:solidFill>
              </a:rPr>
              <a:t> set for the current Inference run, click “configurations used” </a:t>
            </a:r>
            <a:r>
              <a:rPr b="1" lang="en">
                <a:solidFill>
                  <a:srgbClr val="FF9900"/>
                </a:solidFill>
              </a:rPr>
              <a:t>(7) </a:t>
            </a:r>
            <a:r>
              <a:rPr lang="en">
                <a:solidFill>
                  <a:schemeClr val="dk2"/>
                </a:solidFill>
              </a:rPr>
              <a:t>to unfold and view the settings selected</a:t>
            </a:r>
            <a:r>
              <a:rPr lang="en">
                <a:solidFill>
                  <a:schemeClr val="dk2"/>
                </a:solidFill>
              </a:rPr>
              <a:t> in upload page. </a:t>
            </a:r>
            <a:endParaRPr>
              <a:solidFill>
                <a:schemeClr val="dk2"/>
              </a:solidFill>
            </a:endParaRPr>
          </a:p>
        </p:txBody>
      </p:sp>
      <p:pic>
        <p:nvPicPr>
          <p:cNvPr id="87" name="Google Shape;87;p15"/>
          <p:cNvPicPr preferRelativeResize="0"/>
          <p:nvPr/>
        </p:nvPicPr>
        <p:blipFill>
          <a:blip r:embed="rId5">
            <a:alphaModFix/>
          </a:blip>
          <a:stretch>
            <a:fillRect/>
          </a:stretch>
        </p:blipFill>
        <p:spPr>
          <a:xfrm>
            <a:off x="5509350" y="3718787"/>
            <a:ext cx="310750" cy="310750"/>
          </a:xfrm>
          <a:prstGeom prst="rect">
            <a:avLst/>
          </a:prstGeom>
          <a:noFill/>
          <a:ln>
            <a:noFill/>
          </a:ln>
        </p:spPr>
      </p:pic>
      <p:pic>
        <p:nvPicPr>
          <p:cNvPr id="88" name="Google Shape;88;p15"/>
          <p:cNvPicPr preferRelativeResize="0"/>
          <p:nvPr/>
        </p:nvPicPr>
        <p:blipFill>
          <a:blip r:embed="rId6">
            <a:alphaModFix/>
          </a:blip>
          <a:stretch>
            <a:fillRect/>
          </a:stretch>
        </p:blipFill>
        <p:spPr>
          <a:xfrm>
            <a:off x="1820604" y="5030051"/>
            <a:ext cx="310750" cy="31593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6"/>
          <p:cNvSpPr txBox="1"/>
          <p:nvPr/>
        </p:nvSpPr>
        <p:spPr>
          <a:xfrm>
            <a:off x="455825" y="536750"/>
            <a:ext cx="5920200" cy="4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Selecting a Reference Seed</a:t>
            </a:r>
            <a:endParaRPr b="1" sz="1800">
              <a:solidFill>
                <a:schemeClr val="dk2"/>
              </a:solidFill>
            </a:endParaRPr>
          </a:p>
        </p:txBody>
      </p:sp>
      <p:sp>
        <p:nvSpPr>
          <p:cNvPr id="94" name="Google Shape;94;p16"/>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5" name="Google Shape;95;p16"/>
          <p:cNvSpPr txBox="1"/>
          <p:nvPr/>
        </p:nvSpPr>
        <p:spPr>
          <a:xfrm>
            <a:off x="455825" y="956255"/>
            <a:ext cx="6410700" cy="331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In the first review page, select a </a:t>
            </a:r>
            <a:r>
              <a:rPr b="1" lang="en">
                <a:solidFill>
                  <a:schemeClr val="dk2"/>
                </a:solidFill>
              </a:rPr>
              <a:t>reference seed</a:t>
            </a:r>
            <a:r>
              <a:rPr lang="en">
                <a:solidFill>
                  <a:schemeClr val="dk2"/>
                </a:solidFill>
              </a:rPr>
              <a:t> which acts as the threshold deciding which seeds are kept and which seeds are aborted based on seed size. Seeds with a size</a:t>
            </a:r>
            <a:r>
              <a:rPr b="1" lang="en">
                <a:solidFill>
                  <a:schemeClr val="dk2"/>
                </a:solidFill>
              </a:rPr>
              <a:t> smaller than 30%</a:t>
            </a:r>
            <a:r>
              <a:rPr lang="en">
                <a:solidFill>
                  <a:schemeClr val="dk2"/>
                </a:solidFill>
              </a:rPr>
              <a:t> </a:t>
            </a:r>
            <a:r>
              <a:rPr b="1" lang="en">
                <a:solidFill>
                  <a:schemeClr val="dk2"/>
                </a:solidFill>
              </a:rPr>
              <a:t>of the reference seed</a:t>
            </a:r>
            <a:r>
              <a:rPr lang="en">
                <a:solidFill>
                  <a:schemeClr val="dk2"/>
                </a:solidFill>
              </a:rPr>
              <a:t> are not counted in the final result.</a:t>
            </a:r>
            <a:endParaRPr>
              <a:solidFill>
                <a:schemeClr val="dk2"/>
              </a:solidFill>
            </a:endParaRPr>
          </a:p>
          <a:p>
            <a:pPr indent="0" lvl="0" marL="0" rtl="0" algn="l">
              <a:spcBef>
                <a:spcPts val="0"/>
              </a:spcBef>
              <a:spcAft>
                <a:spcPts val="0"/>
              </a:spcAft>
              <a:buNone/>
            </a:pPr>
            <a:r>
              <a:t/>
            </a:r>
            <a:endParaRPr>
              <a:solidFill>
                <a:schemeClr val="dk2"/>
              </a:solidFill>
            </a:endParaRPr>
          </a:p>
        </p:txBody>
      </p:sp>
      <p:sp>
        <p:nvSpPr>
          <p:cNvPr id="96" name="Google Shape;96;p16"/>
          <p:cNvSpPr txBox="1"/>
          <p:nvPr/>
        </p:nvSpPr>
        <p:spPr>
          <a:xfrm>
            <a:off x="834875" y="9059025"/>
            <a:ext cx="5463000" cy="76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97" name="Google Shape;97;p16"/>
          <p:cNvPicPr preferRelativeResize="0"/>
          <p:nvPr/>
        </p:nvPicPr>
        <p:blipFill rotWithShape="1">
          <a:blip r:embed="rId3">
            <a:alphaModFix/>
          </a:blip>
          <a:srcRect b="0" l="12633" r="0" t="0"/>
          <a:stretch/>
        </p:blipFill>
        <p:spPr>
          <a:xfrm>
            <a:off x="25125" y="3457633"/>
            <a:ext cx="7509750" cy="4664180"/>
          </a:xfrm>
          <a:prstGeom prst="rect">
            <a:avLst/>
          </a:prstGeom>
          <a:noFill/>
          <a:ln>
            <a:noFill/>
          </a:ln>
        </p:spPr>
      </p:pic>
      <p:sp>
        <p:nvSpPr>
          <p:cNvPr id="98" name="Google Shape;98;p16"/>
          <p:cNvSpPr txBox="1"/>
          <p:nvPr/>
        </p:nvSpPr>
        <p:spPr>
          <a:xfrm>
            <a:off x="455825" y="1999964"/>
            <a:ext cx="6410700" cy="331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Pick a reference seed by clicking on a desired seed in the image, like the example below </a:t>
            </a:r>
            <a:r>
              <a:rPr b="1" lang="en">
                <a:solidFill>
                  <a:srgbClr val="FF9900"/>
                </a:solidFill>
              </a:rPr>
              <a:t>(8)</a:t>
            </a:r>
            <a:r>
              <a:rPr lang="en">
                <a:solidFill>
                  <a:schemeClr val="dk2"/>
                </a:solidFill>
              </a:rPr>
              <a:t>. The reference seed for that image is automatically bound with a green box upon being clicked and saved as reference seed. If there are more than 1 image in the batch, the user needs to navigate to the next image and pick a reference seed for each image in the batch. To get to the next image, click “Next” </a:t>
            </a:r>
            <a:r>
              <a:rPr b="1" lang="en">
                <a:solidFill>
                  <a:srgbClr val="FF9900"/>
                </a:solidFill>
              </a:rPr>
              <a:t>(9)</a:t>
            </a:r>
            <a:r>
              <a:rPr lang="en">
                <a:solidFill>
                  <a:schemeClr val="dk2"/>
                </a:solidFill>
              </a:rPr>
              <a:t>. </a:t>
            </a:r>
            <a:endParaRPr>
              <a:solidFill>
                <a:schemeClr val="dk2"/>
              </a:solidFill>
            </a:endParaRPr>
          </a:p>
          <a:p>
            <a:pPr indent="0" lvl="0" marL="0" rtl="0" algn="l">
              <a:spcBef>
                <a:spcPts val="0"/>
              </a:spcBef>
              <a:spcAft>
                <a:spcPts val="0"/>
              </a:spcAft>
              <a:buNone/>
            </a:pPr>
            <a:r>
              <a:t/>
            </a:r>
            <a:endParaRPr>
              <a:solidFill>
                <a:schemeClr val="dk2"/>
              </a:solidFill>
            </a:endParaRPr>
          </a:p>
        </p:txBody>
      </p:sp>
      <p:sp>
        <p:nvSpPr>
          <p:cNvPr id="99" name="Google Shape;99;p16"/>
          <p:cNvSpPr txBox="1"/>
          <p:nvPr/>
        </p:nvSpPr>
        <p:spPr>
          <a:xfrm>
            <a:off x="455825" y="8431175"/>
            <a:ext cx="6410700" cy="331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If the user wants to re-select a reference seed, click “Reselect” </a:t>
            </a:r>
            <a:r>
              <a:rPr b="1" lang="en">
                <a:solidFill>
                  <a:srgbClr val="FF9900"/>
                </a:solidFill>
              </a:rPr>
              <a:t>(10)</a:t>
            </a:r>
            <a:r>
              <a:rPr lang="en">
                <a:solidFill>
                  <a:schemeClr val="dk2"/>
                </a:solidFill>
              </a:rPr>
              <a:t> and the old reference is overwritten.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Once all images have a reference seed selected, click “Continue” </a:t>
            </a:r>
            <a:r>
              <a:rPr b="1" lang="en">
                <a:solidFill>
                  <a:srgbClr val="FF9900"/>
                </a:solidFill>
              </a:rPr>
              <a:t>(11)</a:t>
            </a:r>
            <a:r>
              <a:rPr lang="en">
                <a:solidFill>
                  <a:schemeClr val="dk2"/>
                </a:solidFill>
              </a:rPr>
              <a:t> to run the images through the reference seed calculation and navigate to the second part of the review where the result is manually reviewed. </a:t>
            </a:r>
            <a:endParaRPr>
              <a:solidFill>
                <a:schemeClr val="dk2"/>
              </a:solidFill>
            </a:endParaRPr>
          </a:p>
          <a:p>
            <a:pPr indent="0" lvl="0" marL="0" rtl="0" algn="l">
              <a:spcBef>
                <a:spcPts val="0"/>
              </a:spcBef>
              <a:spcAft>
                <a:spcPts val="0"/>
              </a:spcAft>
              <a:buNone/>
            </a:pPr>
            <a:r>
              <a:t/>
            </a:r>
            <a:endParaRPr>
              <a:solidFill>
                <a:schemeClr val="dk2"/>
              </a:solidFill>
            </a:endParaRPr>
          </a:p>
        </p:txBody>
      </p:sp>
      <p:pic>
        <p:nvPicPr>
          <p:cNvPr id="100" name="Google Shape;100;p16"/>
          <p:cNvPicPr preferRelativeResize="0"/>
          <p:nvPr/>
        </p:nvPicPr>
        <p:blipFill>
          <a:blip r:embed="rId4">
            <a:alphaModFix/>
          </a:blip>
          <a:stretch>
            <a:fillRect/>
          </a:stretch>
        </p:blipFill>
        <p:spPr>
          <a:xfrm>
            <a:off x="2583350" y="5957475"/>
            <a:ext cx="298200" cy="298200"/>
          </a:xfrm>
          <a:prstGeom prst="rect">
            <a:avLst/>
          </a:prstGeom>
          <a:noFill/>
          <a:ln>
            <a:noFill/>
          </a:ln>
        </p:spPr>
      </p:pic>
      <p:pic>
        <p:nvPicPr>
          <p:cNvPr id="101" name="Google Shape;101;p16"/>
          <p:cNvPicPr preferRelativeResize="0"/>
          <p:nvPr/>
        </p:nvPicPr>
        <p:blipFill>
          <a:blip r:embed="rId5">
            <a:alphaModFix/>
          </a:blip>
          <a:stretch>
            <a:fillRect/>
          </a:stretch>
        </p:blipFill>
        <p:spPr>
          <a:xfrm>
            <a:off x="7149943" y="4019450"/>
            <a:ext cx="298200" cy="298200"/>
          </a:xfrm>
          <a:prstGeom prst="rect">
            <a:avLst/>
          </a:prstGeom>
          <a:noFill/>
          <a:ln>
            <a:noFill/>
          </a:ln>
        </p:spPr>
      </p:pic>
      <p:pic>
        <p:nvPicPr>
          <p:cNvPr id="102" name="Google Shape;102;p16"/>
          <p:cNvPicPr preferRelativeResize="0"/>
          <p:nvPr/>
        </p:nvPicPr>
        <p:blipFill>
          <a:blip r:embed="rId6">
            <a:alphaModFix/>
          </a:blip>
          <a:stretch>
            <a:fillRect/>
          </a:stretch>
        </p:blipFill>
        <p:spPr>
          <a:xfrm>
            <a:off x="6541299" y="7550624"/>
            <a:ext cx="325225" cy="325225"/>
          </a:xfrm>
          <a:prstGeom prst="rect">
            <a:avLst/>
          </a:prstGeom>
          <a:noFill/>
          <a:ln>
            <a:noFill/>
          </a:ln>
        </p:spPr>
      </p:pic>
      <p:pic>
        <p:nvPicPr>
          <p:cNvPr id="103" name="Google Shape;103;p16"/>
          <p:cNvPicPr preferRelativeResize="0"/>
          <p:nvPr/>
        </p:nvPicPr>
        <p:blipFill>
          <a:blip r:embed="rId7">
            <a:alphaModFix/>
          </a:blip>
          <a:stretch>
            <a:fillRect/>
          </a:stretch>
        </p:blipFill>
        <p:spPr>
          <a:xfrm>
            <a:off x="7082497" y="7555369"/>
            <a:ext cx="298200" cy="31573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9" name="Google Shape;109;p17"/>
          <p:cNvPicPr preferRelativeResize="0"/>
          <p:nvPr/>
        </p:nvPicPr>
        <p:blipFill rotWithShape="1">
          <a:blip r:embed="rId3">
            <a:alphaModFix/>
          </a:blip>
          <a:srcRect b="0" l="14530" r="0" t="0"/>
          <a:stretch/>
        </p:blipFill>
        <p:spPr>
          <a:xfrm>
            <a:off x="0" y="3633202"/>
            <a:ext cx="7559999" cy="5026835"/>
          </a:xfrm>
          <a:prstGeom prst="rect">
            <a:avLst/>
          </a:prstGeom>
          <a:noFill/>
          <a:ln>
            <a:noFill/>
          </a:ln>
        </p:spPr>
      </p:pic>
      <p:sp>
        <p:nvSpPr>
          <p:cNvPr id="110" name="Google Shape;110;p17"/>
          <p:cNvSpPr txBox="1"/>
          <p:nvPr/>
        </p:nvSpPr>
        <p:spPr>
          <a:xfrm>
            <a:off x="455825" y="536750"/>
            <a:ext cx="5920200" cy="4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Manually reviewing the result</a:t>
            </a:r>
            <a:endParaRPr b="1" sz="1800">
              <a:solidFill>
                <a:schemeClr val="dk2"/>
              </a:solidFill>
            </a:endParaRPr>
          </a:p>
        </p:txBody>
      </p:sp>
      <p:sp>
        <p:nvSpPr>
          <p:cNvPr id="111" name="Google Shape;111;p17"/>
          <p:cNvSpPr txBox="1"/>
          <p:nvPr/>
        </p:nvSpPr>
        <p:spPr>
          <a:xfrm>
            <a:off x="455825" y="1056516"/>
            <a:ext cx="6410700" cy="331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In the “Review” page the user manually reviews the resulting seed count after the Inference run and the abortion of the seeds smaller than the reference seed threshold. Aborted seeds are bound with a red box</a:t>
            </a:r>
            <a:r>
              <a:rPr b="1" lang="en">
                <a:solidFill>
                  <a:srgbClr val="FF9900"/>
                </a:solidFill>
              </a:rPr>
              <a:t>(12)</a:t>
            </a:r>
            <a:r>
              <a:rPr lang="en">
                <a:solidFill>
                  <a:schemeClr val="dk2"/>
                </a:solidFill>
              </a:rPr>
              <a:t> and the counted seeds with green. To </a:t>
            </a:r>
            <a:r>
              <a:rPr b="1" lang="en">
                <a:solidFill>
                  <a:schemeClr val="dk2"/>
                </a:solidFill>
              </a:rPr>
              <a:t>toggle the status of a seed manually,</a:t>
            </a:r>
            <a:r>
              <a:rPr lang="en">
                <a:solidFill>
                  <a:schemeClr val="dk2"/>
                </a:solidFill>
              </a:rPr>
              <a:t> click on the seed bounding box and the </a:t>
            </a:r>
            <a:r>
              <a:rPr lang="en">
                <a:solidFill>
                  <a:schemeClr val="dk2"/>
                </a:solidFill>
              </a:rPr>
              <a:t>option</a:t>
            </a:r>
            <a:r>
              <a:rPr lang="en">
                <a:solidFill>
                  <a:schemeClr val="dk2"/>
                </a:solidFill>
              </a:rPr>
              <a:t> to change it appears. To </a:t>
            </a:r>
            <a:r>
              <a:rPr b="1" lang="en">
                <a:solidFill>
                  <a:schemeClr val="dk2"/>
                </a:solidFill>
              </a:rPr>
              <a:t>adjust the total count of active seeds</a:t>
            </a:r>
            <a:r>
              <a:rPr lang="en">
                <a:solidFill>
                  <a:schemeClr val="dk2"/>
                </a:solidFill>
              </a:rPr>
              <a:t> manually, use the arrows in the “active seeds” tab in the data bar</a:t>
            </a:r>
            <a:r>
              <a:rPr b="1" lang="en">
                <a:solidFill>
                  <a:srgbClr val="FF9900"/>
                </a:solidFill>
              </a:rPr>
              <a:t>(13)</a:t>
            </a:r>
            <a:r>
              <a:rPr lang="en">
                <a:solidFill>
                  <a:schemeClr val="dk2"/>
                </a:solidFill>
              </a:rPr>
              <a:t> and click save.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Just like in the page with reference seed selection, each image in the batch is reviewed </a:t>
            </a:r>
            <a:r>
              <a:rPr lang="en">
                <a:solidFill>
                  <a:schemeClr val="dk2"/>
                </a:solidFill>
              </a:rPr>
              <a:t>separately</a:t>
            </a:r>
            <a:r>
              <a:rPr lang="en">
                <a:solidFill>
                  <a:schemeClr val="dk2"/>
                </a:solidFill>
              </a:rPr>
              <a:t> and the user can navigate between the images of the batch using then </a:t>
            </a:r>
            <a:r>
              <a:rPr b="1" lang="en">
                <a:solidFill>
                  <a:schemeClr val="dk2"/>
                </a:solidFill>
              </a:rPr>
              <a:t>“next”</a:t>
            </a:r>
            <a:r>
              <a:rPr lang="en">
                <a:solidFill>
                  <a:schemeClr val="dk2"/>
                </a:solidFill>
              </a:rPr>
              <a:t> and </a:t>
            </a:r>
            <a:r>
              <a:rPr b="1" lang="en">
                <a:solidFill>
                  <a:schemeClr val="dk2"/>
                </a:solidFill>
              </a:rPr>
              <a:t>“prev”</a:t>
            </a:r>
            <a:r>
              <a:rPr lang="en">
                <a:solidFill>
                  <a:schemeClr val="dk2"/>
                </a:solidFill>
              </a:rPr>
              <a:t> buttons in the right corner. </a:t>
            </a:r>
            <a:endParaRPr>
              <a:solidFill>
                <a:schemeClr val="dk2"/>
              </a:solidFill>
            </a:endParaRPr>
          </a:p>
        </p:txBody>
      </p:sp>
      <p:sp>
        <p:nvSpPr>
          <p:cNvPr id="112" name="Google Shape;112;p17"/>
          <p:cNvSpPr txBox="1"/>
          <p:nvPr/>
        </p:nvSpPr>
        <p:spPr>
          <a:xfrm>
            <a:off x="574650" y="9058884"/>
            <a:ext cx="6410700" cy="331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Once all images have been reviewed and the count manually changed if needed, click “Export” </a:t>
            </a:r>
            <a:r>
              <a:rPr b="1" lang="en">
                <a:solidFill>
                  <a:srgbClr val="FF9900"/>
                </a:solidFill>
              </a:rPr>
              <a:t>(14)</a:t>
            </a:r>
            <a:r>
              <a:rPr lang="en">
                <a:solidFill>
                  <a:schemeClr val="dk2"/>
                </a:solidFill>
              </a:rPr>
              <a:t> in order to proceed to the next page to save the results. </a:t>
            </a:r>
            <a:endParaRPr>
              <a:solidFill>
                <a:schemeClr val="dk2"/>
              </a:solidFill>
            </a:endParaRPr>
          </a:p>
        </p:txBody>
      </p:sp>
      <p:pic>
        <p:nvPicPr>
          <p:cNvPr id="113" name="Google Shape;113;p17"/>
          <p:cNvPicPr preferRelativeResize="0"/>
          <p:nvPr/>
        </p:nvPicPr>
        <p:blipFill>
          <a:blip r:embed="rId4">
            <a:alphaModFix/>
          </a:blip>
          <a:stretch>
            <a:fillRect/>
          </a:stretch>
        </p:blipFill>
        <p:spPr>
          <a:xfrm>
            <a:off x="422050" y="6894875"/>
            <a:ext cx="296875" cy="296875"/>
          </a:xfrm>
          <a:prstGeom prst="rect">
            <a:avLst/>
          </a:prstGeom>
          <a:noFill/>
          <a:ln>
            <a:noFill/>
          </a:ln>
        </p:spPr>
      </p:pic>
      <p:pic>
        <p:nvPicPr>
          <p:cNvPr id="114" name="Google Shape;114;p17"/>
          <p:cNvPicPr preferRelativeResize="0"/>
          <p:nvPr/>
        </p:nvPicPr>
        <p:blipFill>
          <a:blip r:embed="rId5">
            <a:alphaModFix/>
          </a:blip>
          <a:stretch>
            <a:fillRect/>
          </a:stretch>
        </p:blipFill>
        <p:spPr>
          <a:xfrm>
            <a:off x="5261374" y="4232005"/>
            <a:ext cx="296875" cy="292820"/>
          </a:xfrm>
          <a:prstGeom prst="rect">
            <a:avLst/>
          </a:prstGeom>
          <a:noFill/>
          <a:ln>
            <a:noFill/>
          </a:ln>
        </p:spPr>
      </p:pic>
      <p:pic>
        <p:nvPicPr>
          <p:cNvPr id="115" name="Google Shape;115;p17"/>
          <p:cNvPicPr preferRelativeResize="0"/>
          <p:nvPr/>
        </p:nvPicPr>
        <p:blipFill>
          <a:blip r:embed="rId6">
            <a:alphaModFix/>
          </a:blip>
          <a:stretch>
            <a:fillRect/>
          </a:stretch>
        </p:blipFill>
        <p:spPr>
          <a:xfrm>
            <a:off x="7012371" y="8017852"/>
            <a:ext cx="345500" cy="345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21" name="Google Shape;121;p18"/>
          <p:cNvPicPr preferRelativeResize="0"/>
          <p:nvPr/>
        </p:nvPicPr>
        <p:blipFill>
          <a:blip r:embed="rId3">
            <a:alphaModFix/>
          </a:blip>
          <a:stretch>
            <a:fillRect/>
          </a:stretch>
        </p:blipFill>
        <p:spPr>
          <a:xfrm>
            <a:off x="152400" y="2637563"/>
            <a:ext cx="7255200" cy="4493543"/>
          </a:xfrm>
          <a:prstGeom prst="rect">
            <a:avLst/>
          </a:prstGeom>
          <a:noFill/>
          <a:ln>
            <a:noFill/>
          </a:ln>
        </p:spPr>
      </p:pic>
      <p:sp>
        <p:nvSpPr>
          <p:cNvPr id="122" name="Google Shape;122;p18"/>
          <p:cNvSpPr txBox="1"/>
          <p:nvPr/>
        </p:nvSpPr>
        <p:spPr>
          <a:xfrm>
            <a:off x="455825" y="441500"/>
            <a:ext cx="5920200" cy="4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Exporting the Result</a:t>
            </a:r>
            <a:endParaRPr b="1" sz="1800">
              <a:solidFill>
                <a:schemeClr val="dk2"/>
              </a:solidFill>
            </a:endParaRPr>
          </a:p>
        </p:txBody>
      </p:sp>
      <p:sp>
        <p:nvSpPr>
          <p:cNvPr id="123" name="Google Shape;123;p18"/>
          <p:cNvSpPr txBox="1"/>
          <p:nvPr/>
        </p:nvSpPr>
        <p:spPr>
          <a:xfrm>
            <a:off x="455825" y="988634"/>
            <a:ext cx="6410700" cy="331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The user is presented with statistics from each image prediction: </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image name</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Species</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The calculated seed count </a:t>
            </a:r>
            <a:r>
              <a:rPr b="1" lang="en">
                <a:solidFill>
                  <a:schemeClr val="dk2"/>
                </a:solidFill>
              </a:rPr>
              <a:t>before</a:t>
            </a:r>
            <a:r>
              <a:rPr lang="en">
                <a:solidFill>
                  <a:schemeClr val="dk2"/>
                </a:solidFill>
              </a:rPr>
              <a:t> the manual review</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Prediction confidence score for each image</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The reviewed </a:t>
            </a:r>
            <a:r>
              <a:rPr b="1" lang="en">
                <a:solidFill>
                  <a:schemeClr val="dk2"/>
                </a:solidFill>
              </a:rPr>
              <a:t>final seed count. </a:t>
            </a:r>
            <a:endParaRPr b="1">
              <a:solidFill>
                <a:schemeClr val="dk2"/>
              </a:solidFill>
            </a:endParaRPr>
          </a:p>
        </p:txBody>
      </p:sp>
      <p:sp>
        <p:nvSpPr>
          <p:cNvPr id="124" name="Google Shape;124;p18"/>
          <p:cNvSpPr txBox="1"/>
          <p:nvPr/>
        </p:nvSpPr>
        <p:spPr>
          <a:xfrm>
            <a:off x="710125" y="7197002"/>
            <a:ext cx="6096000" cy="25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To download the statistics into csv format, click “Download CSV” </a:t>
            </a:r>
            <a:r>
              <a:rPr b="1" lang="en">
                <a:solidFill>
                  <a:srgbClr val="FF9900"/>
                </a:solidFill>
              </a:rPr>
              <a:t>(15)</a:t>
            </a:r>
            <a:r>
              <a:rPr lang="en">
                <a:solidFill>
                  <a:schemeClr val="dk2"/>
                </a:solidFill>
              </a:rPr>
              <a:t>.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To download the predicted images including bounding boxes around the active seeds, hover over the desired image and the option to download it appears.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p:txBody>
      </p:sp>
      <p:sp>
        <p:nvSpPr>
          <p:cNvPr id="125" name="Google Shape;125;p18"/>
          <p:cNvSpPr txBox="1"/>
          <p:nvPr/>
        </p:nvSpPr>
        <p:spPr>
          <a:xfrm>
            <a:off x="779398" y="8908975"/>
            <a:ext cx="2684400" cy="1098300"/>
          </a:xfrm>
          <a:prstGeom prst="rect">
            <a:avLst/>
          </a:prstGeom>
          <a:noFill/>
          <a:ln cap="flat" cmpd="sng" w="19050">
            <a:solidFill>
              <a:srgbClr val="93C47D"/>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2"/>
                </a:solidFill>
              </a:rPr>
              <a:t>The results from the current run is also saved to the “Runs” page which can be found in the left side bar. </a:t>
            </a:r>
            <a:endParaRPr>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126" name="Google Shape;126;p18"/>
          <p:cNvPicPr preferRelativeResize="0"/>
          <p:nvPr/>
        </p:nvPicPr>
        <p:blipFill rotWithShape="1">
          <a:blip r:embed="rId4">
            <a:alphaModFix/>
          </a:blip>
          <a:srcRect b="11770" l="0" r="0" t="0"/>
          <a:stretch/>
        </p:blipFill>
        <p:spPr>
          <a:xfrm>
            <a:off x="5212875" y="8423993"/>
            <a:ext cx="1301275" cy="1955700"/>
          </a:xfrm>
          <a:prstGeom prst="rect">
            <a:avLst/>
          </a:prstGeom>
          <a:noFill/>
          <a:ln>
            <a:noFill/>
          </a:ln>
        </p:spPr>
      </p:pic>
      <p:cxnSp>
        <p:nvCxnSpPr>
          <p:cNvPr id="127" name="Google Shape;127;p18"/>
          <p:cNvCxnSpPr>
            <a:stCxn id="125" idx="3"/>
          </p:cNvCxnSpPr>
          <p:nvPr/>
        </p:nvCxnSpPr>
        <p:spPr>
          <a:xfrm>
            <a:off x="3463798" y="9458125"/>
            <a:ext cx="1939800" cy="21000"/>
          </a:xfrm>
          <a:prstGeom prst="straightConnector1">
            <a:avLst/>
          </a:prstGeom>
          <a:noFill/>
          <a:ln cap="flat" cmpd="sng" w="38100">
            <a:solidFill>
              <a:schemeClr val="dk2"/>
            </a:solidFill>
            <a:prstDash val="solid"/>
            <a:round/>
            <a:headEnd len="med" w="med" type="none"/>
            <a:tailEnd len="med" w="med" type="triangle"/>
          </a:ln>
        </p:spPr>
      </p:cxnSp>
      <p:pic>
        <p:nvPicPr>
          <p:cNvPr id="128" name="Google Shape;128;p18"/>
          <p:cNvPicPr preferRelativeResize="0"/>
          <p:nvPr/>
        </p:nvPicPr>
        <p:blipFill>
          <a:blip r:embed="rId5">
            <a:alphaModFix/>
          </a:blip>
          <a:stretch>
            <a:fillRect/>
          </a:stretch>
        </p:blipFill>
        <p:spPr>
          <a:xfrm>
            <a:off x="6527661" y="3132711"/>
            <a:ext cx="318275" cy="3182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