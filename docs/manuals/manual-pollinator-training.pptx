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10689325" cx="75621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7">
          <p15:clr>
            <a:srgbClr val="747775"/>
          </p15:clr>
        </p15:guide>
        <p15:guide id="2" pos="238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7" orient="horz"/>
        <p:guide pos="238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6410" y="685800"/>
            <a:ext cx="24258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216410" y="685800"/>
            <a:ext cx="24258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e755b43be6_0_7:notes"/>
          <p:cNvSpPr/>
          <p:nvPr>
            <p:ph idx="2" type="sldImg"/>
          </p:nvPr>
        </p:nvSpPr>
        <p:spPr>
          <a:xfrm>
            <a:off x="2216410" y="685800"/>
            <a:ext cx="24258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e755b43be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755b43be6_0_15:notes"/>
          <p:cNvSpPr/>
          <p:nvPr>
            <p:ph idx="2" type="sldImg"/>
          </p:nvPr>
        </p:nvSpPr>
        <p:spPr>
          <a:xfrm>
            <a:off x="2216410" y="685800"/>
            <a:ext cx="24258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755b43be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d3bf6cf89_0_20:notes"/>
          <p:cNvSpPr/>
          <p:nvPr>
            <p:ph idx="2" type="sldImg"/>
          </p:nvPr>
        </p:nvSpPr>
        <p:spPr>
          <a:xfrm>
            <a:off x="2216410" y="685800"/>
            <a:ext cx="24258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ed3bf6cf8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7783" y="1547391"/>
            <a:ext cx="7046400" cy="42657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57776" y="5889935"/>
            <a:ext cx="7046400" cy="1647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006734" y="9691191"/>
            <a:ext cx="4539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7776" y="4469940"/>
            <a:ext cx="7046400" cy="1749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006734" y="9691191"/>
            <a:ext cx="4539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7776" y="924860"/>
            <a:ext cx="7046400" cy="11901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57776" y="2395097"/>
            <a:ext cx="7046400" cy="71001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006734" y="9691191"/>
            <a:ext cx="4539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57776" y="924860"/>
            <a:ext cx="7046400" cy="11901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57776" y="2395097"/>
            <a:ext cx="3307800" cy="71001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3996401" y="2395097"/>
            <a:ext cx="3307800" cy="71001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006734" y="9691191"/>
            <a:ext cx="4539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57776" y="924860"/>
            <a:ext cx="7046400" cy="11901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006734" y="9691191"/>
            <a:ext cx="4539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57776" y="1154659"/>
            <a:ext cx="2322300" cy="15705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57776" y="2887895"/>
            <a:ext cx="2322300" cy="6607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006734" y="9691191"/>
            <a:ext cx="4539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05437" y="935511"/>
            <a:ext cx="5266200" cy="85017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006734" y="9691191"/>
            <a:ext cx="4539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781050" y="-260"/>
            <a:ext cx="3781200" cy="10689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19569" y="2562809"/>
            <a:ext cx="3345300" cy="3080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19569" y="5825407"/>
            <a:ext cx="3345300" cy="25668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084973" y="1504787"/>
            <a:ext cx="3173100" cy="7679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006734" y="9691191"/>
            <a:ext cx="4539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57776" y="8792066"/>
            <a:ext cx="4961100" cy="1257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006734" y="9691191"/>
            <a:ext cx="4539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57776" y="2298771"/>
            <a:ext cx="7046400" cy="408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57776" y="6551017"/>
            <a:ext cx="7046400" cy="2703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006734" y="9691191"/>
            <a:ext cx="4539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006734" y="9691191"/>
            <a:ext cx="4539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76" y="924860"/>
            <a:ext cx="7046400" cy="11901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57776" y="2395097"/>
            <a:ext cx="7046400" cy="71001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006734" y="9691191"/>
            <a:ext cx="453900" cy="8181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sv"/>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22.png"/><Relationship Id="rId11" Type="http://schemas.openxmlformats.org/officeDocument/2006/relationships/image" Target="../media/image14.png"/><Relationship Id="rId10" Type="http://schemas.openxmlformats.org/officeDocument/2006/relationships/image" Target="../media/image10.png"/><Relationship Id="rId9"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9.png"/><Relationship Id="rId11" Type="http://schemas.openxmlformats.org/officeDocument/2006/relationships/image" Target="../media/image17.png"/><Relationship Id="rId10" Type="http://schemas.openxmlformats.org/officeDocument/2006/relationships/image" Target="../media/image16.png"/><Relationship Id="rId9"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571225" y="386375"/>
            <a:ext cx="3507000" cy="67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 sz="3000">
                <a:solidFill>
                  <a:schemeClr val="dk2"/>
                </a:solidFill>
              </a:rPr>
              <a:t>Pollinator Module </a:t>
            </a:r>
            <a:endParaRPr b="1" sz="3000">
              <a:solidFill>
                <a:schemeClr val="dk2"/>
              </a:solidFill>
            </a:endParaRPr>
          </a:p>
        </p:txBody>
      </p:sp>
      <p:sp>
        <p:nvSpPr>
          <p:cNvPr id="55" name="Google Shape;55;p13"/>
          <p:cNvSpPr txBox="1"/>
          <p:nvPr/>
        </p:nvSpPr>
        <p:spPr>
          <a:xfrm>
            <a:off x="639600" y="1058375"/>
            <a:ext cx="2877000" cy="67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 sz="2500">
                <a:solidFill>
                  <a:schemeClr val="dk2"/>
                </a:solidFill>
              </a:rPr>
              <a:t>Retraining a model </a:t>
            </a:r>
            <a:endParaRPr sz="2500">
              <a:solidFill>
                <a:schemeClr val="dk2"/>
              </a:solidFill>
            </a:endParaRPr>
          </a:p>
        </p:txBody>
      </p:sp>
      <p:sp>
        <p:nvSpPr>
          <p:cNvPr id="56" name="Google Shape;56;p13"/>
          <p:cNvSpPr txBox="1"/>
          <p:nvPr/>
        </p:nvSpPr>
        <p:spPr>
          <a:xfrm>
            <a:off x="639600" y="1596975"/>
            <a:ext cx="6282900" cy="185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
                <a:solidFill>
                  <a:schemeClr val="dk2"/>
                </a:solidFill>
              </a:rPr>
              <a:t>Choose which model you want to retrain. Click </a:t>
            </a:r>
            <a:r>
              <a:rPr b="1" lang="sv">
                <a:solidFill>
                  <a:srgbClr val="FF9900"/>
                </a:solidFill>
              </a:rPr>
              <a:t>(1) </a:t>
            </a:r>
            <a:r>
              <a:rPr lang="sv">
                <a:solidFill>
                  <a:schemeClr val="dk2"/>
                </a:solidFill>
              </a:rPr>
              <a:t>to train YOLO</a:t>
            </a:r>
            <a:endParaRPr>
              <a:solidFill>
                <a:schemeClr val="dk2"/>
              </a:solidFill>
            </a:endParaRPr>
          </a:p>
        </p:txBody>
      </p:sp>
      <p:pic>
        <p:nvPicPr>
          <p:cNvPr id="57" name="Google Shape;57;p13"/>
          <p:cNvPicPr preferRelativeResize="0"/>
          <p:nvPr/>
        </p:nvPicPr>
        <p:blipFill>
          <a:blip r:embed="rId3">
            <a:alphaModFix/>
          </a:blip>
          <a:stretch>
            <a:fillRect/>
          </a:stretch>
        </p:blipFill>
        <p:spPr>
          <a:xfrm>
            <a:off x="152400" y="2138125"/>
            <a:ext cx="7257301" cy="3968571"/>
          </a:xfrm>
          <a:prstGeom prst="rect">
            <a:avLst/>
          </a:prstGeom>
          <a:noFill/>
          <a:ln>
            <a:noFill/>
          </a:ln>
        </p:spPr>
      </p:pic>
      <p:pic>
        <p:nvPicPr>
          <p:cNvPr id="58" name="Google Shape;58;p13"/>
          <p:cNvPicPr preferRelativeResize="0"/>
          <p:nvPr/>
        </p:nvPicPr>
        <p:blipFill>
          <a:blip r:embed="rId4">
            <a:alphaModFix/>
          </a:blip>
          <a:stretch>
            <a:fillRect/>
          </a:stretch>
        </p:blipFill>
        <p:spPr>
          <a:xfrm>
            <a:off x="0" y="3728496"/>
            <a:ext cx="561975" cy="571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14"/>
          <p:cNvPicPr preferRelativeResize="0"/>
          <p:nvPr/>
        </p:nvPicPr>
        <p:blipFill>
          <a:blip r:embed="rId3">
            <a:alphaModFix/>
          </a:blip>
          <a:stretch>
            <a:fillRect/>
          </a:stretch>
        </p:blipFill>
        <p:spPr>
          <a:xfrm>
            <a:off x="152388" y="2336425"/>
            <a:ext cx="7257301" cy="4009039"/>
          </a:xfrm>
          <a:prstGeom prst="rect">
            <a:avLst/>
          </a:prstGeom>
          <a:noFill/>
          <a:ln>
            <a:noFill/>
          </a:ln>
        </p:spPr>
      </p:pic>
      <p:sp>
        <p:nvSpPr>
          <p:cNvPr id="64" name="Google Shape;64;p14"/>
          <p:cNvSpPr txBox="1"/>
          <p:nvPr/>
        </p:nvSpPr>
        <p:spPr>
          <a:xfrm>
            <a:off x="581025" y="218400"/>
            <a:ext cx="6327600" cy="202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
                <a:solidFill>
                  <a:schemeClr val="dk2"/>
                </a:solidFill>
              </a:rPr>
              <a:t>Choose which model to train from </a:t>
            </a:r>
            <a:r>
              <a:rPr b="1" lang="sv">
                <a:solidFill>
                  <a:srgbClr val="FF9900"/>
                </a:solidFill>
              </a:rPr>
              <a:t>(2)</a:t>
            </a:r>
            <a:r>
              <a:rPr lang="sv">
                <a:solidFill>
                  <a:schemeClr val="dk2"/>
                </a:solidFill>
              </a:rPr>
              <a:t>. Click </a:t>
            </a:r>
            <a:r>
              <a:rPr b="1" lang="sv">
                <a:solidFill>
                  <a:srgbClr val="FF9900"/>
                </a:solidFill>
              </a:rPr>
              <a:t>(3)</a:t>
            </a:r>
            <a:r>
              <a:rPr lang="sv">
                <a:solidFill>
                  <a:schemeClr val="dk2"/>
                </a:solidFill>
              </a:rPr>
              <a:t> to browse images/crops. </a:t>
            </a:r>
            <a:r>
              <a:rPr lang="sv">
                <a:solidFill>
                  <a:schemeClr val="dk2"/>
                </a:solidFill>
              </a:rPr>
              <a:t>Tick/untick </a:t>
            </a:r>
            <a:r>
              <a:rPr b="1" lang="sv">
                <a:solidFill>
                  <a:srgbClr val="FF9900"/>
                </a:solidFill>
              </a:rPr>
              <a:t>(4)</a:t>
            </a:r>
            <a:r>
              <a:rPr lang="sv">
                <a:solidFill>
                  <a:schemeClr val="dk2"/>
                </a:solidFill>
              </a:rPr>
              <a:t> to exclude/include in training. </a:t>
            </a:r>
            <a:r>
              <a:rPr b="1" lang="sv">
                <a:solidFill>
                  <a:srgbClr val="FF9900"/>
                </a:solidFill>
              </a:rPr>
              <a:t>(5)</a:t>
            </a:r>
            <a:r>
              <a:rPr lang="sv">
                <a:solidFill>
                  <a:schemeClr val="dk2"/>
                </a:solidFill>
              </a:rPr>
              <a:t> Exclude or include all images.</a:t>
            </a:r>
            <a:br>
              <a:rPr lang="sv">
                <a:solidFill>
                  <a:schemeClr val="dk2"/>
                </a:solidFill>
              </a:rPr>
            </a:br>
            <a:r>
              <a:rPr lang="sv">
                <a:solidFill>
                  <a:schemeClr val="dk2"/>
                </a:solidFill>
              </a:rPr>
              <a:t>Untick </a:t>
            </a:r>
            <a:r>
              <a:rPr b="1" lang="sv">
                <a:solidFill>
                  <a:srgbClr val="FF9900"/>
                </a:solidFill>
              </a:rPr>
              <a:t>(6)</a:t>
            </a:r>
            <a:r>
              <a:rPr lang="sv">
                <a:solidFill>
                  <a:schemeClr val="dk2"/>
                </a:solidFill>
              </a:rPr>
              <a:t>  to only use uploaded dataset. </a:t>
            </a:r>
            <a:r>
              <a:rPr b="1" lang="sv">
                <a:solidFill>
                  <a:srgbClr val="FF9900"/>
                </a:solidFill>
              </a:rPr>
              <a:t>(7)</a:t>
            </a:r>
            <a:r>
              <a:rPr lang="sv">
                <a:solidFill>
                  <a:schemeClr val="dk2"/>
                </a:solidFill>
              </a:rPr>
              <a:t> Upload images and labels. </a:t>
            </a:r>
            <a:r>
              <a:rPr b="1" lang="sv">
                <a:solidFill>
                  <a:srgbClr val="FF9900"/>
                </a:solidFill>
              </a:rPr>
              <a:t>(8)</a:t>
            </a:r>
            <a:r>
              <a:rPr lang="sv">
                <a:solidFill>
                  <a:schemeClr val="dk2"/>
                </a:solidFill>
              </a:rPr>
              <a:t> Choose which classes should be included in training. </a:t>
            </a:r>
            <a:endParaRPr>
              <a:solidFill>
                <a:schemeClr val="dk2"/>
              </a:solidFill>
            </a:endParaRPr>
          </a:p>
        </p:txBody>
      </p:sp>
      <p:pic>
        <p:nvPicPr>
          <p:cNvPr id="65" name="Google Shape;65;p14"/>
          <p:cNvPicPr preferRelativeResize="0"/>
          <p:nvPr/>
        </p:nvPicPr>
        <p:blipFill>
          <a:blip r:embed="rId4">
            <a:alphaModFix/>
          </a:blip>
          <a:stretch>
            <a:fillRect/>
          </a:stretch>
        </p:blipFill>
        <p:spPr>
          <a:xfrm>
            <a:off x="2017025" y="2336425"/>
            <a:ext cx="530725" cy="530725"/>
          </a:xfrm>
          <a:prstGeom prst="rect">
            <a:avLst/>
          </a:prstGeom>
          <a:noFill/>
          <a:ln>
            <a:noFill/>
          </a:ln>
        </p:spPr>
      </p:pic>
      <p:pic>
        <p:nvPicPr>
          <p:cNvPr id="66" name="Google Shape;66;p14"/>
          <p:cNvPicPr preferRelativeResize="0"/>
          <p:nvPr/>
        </p:nvPicPr>
        <p:blipFill>
          <a:blip r:embed="rId5">
            <a:alphaModFix/>
          </a:blip>
          <a:stretch>
            <a:fillRect/>
          </a:stretch>
        </p:blipFill>
        <p:spPr>
          <a:xfrm>
            <a:off x="6304825" y="2792200"/>
            <a:ext cx="530725" cy="530725"/>
          </a:xfrm>
          <a:prstGeom prst="rect">
            <a:avLst/>
          </a:prstGeom>
          <a:noFill/>
          <a:ln>
            <a:noFill/>
          </a:ln>
        </p:spPr>
      </p:pic>
      <p:pic>
        <p:nvPicPr>
          <p:cNvPr id="67" name="Google Shape;67;p14"/>
          <p:cNvPicPr preferRelativeResize="0"/>
          <p:nvPr/>
        </p:nvPicPr>
        <p:blipFill>
          <a:blip r:embed="rId6">
            <a:alphaModFix/>
          </a:blip>
          <a:stretch>
            <a:fillRect/>
          </a:stretch>
        </p:blipFill>
        <p:spPr>
          <a:xfrm>
            <a:off x="92606" y="2867156"/>
            <a:ext cx="539575" cy="539575"/>
          </a:xfrm>
          <a:prstGeom prst="rect">
            <a:avLst/>
          </a:prstGeom>
          <a:noFill/>
          <a:ln>
            <a:noFill/>
          </a:ln>
        </p:spPr>
      </p:pic>
      <p:pic>
        <p:nvPicPr>
          <p:cNvPr id="68" name="Google Shape;68;p14"/>
          <p:cNvPicPr preferRelativeResize="0"/>
          <p:nvPr/>
        </p:nvPicPr>
        <p:blipFill>
          <a:blip r:embed="rId7">
            <a:alphaModFix/>
          </a:blip>
          <a:stretch>
            <a:fillRect/>
          </a:stretch>
        </p:blipFill>
        <p:spPr>
          <a:xfrm>
            <a:off x="1177901" y="6439099"/>
            <a:ext cx="5206300" cy="2804676"/>
          </a:xfrm>
          <a:prstGeom prst="rect">
            <a:avLst/>
          </a:prstGeom>
          <a:noFill/>
          <a:ln>
            <a:noFill/>
          </a:ln>
        </p:spPr>
      </p:pic>
      <p:pic>
        <p:nvPicPr>
          <p:cNvPr id="69" name="Google Shape;69;p14"/>
          <p:cNvPicPr preferRelativeResize="0"/>
          <p:nvPr/>
        </p:nvPicPr>
        <p:blipFill>
          <a:blip r:embed="rId8">
            <a:alphaModFix/>
          </a:blip>
          <a:stretch>
            <a:fillRect/>
          </a:stretch>
        </p:blipFill>
        <p:spPr>
          <a:xfrm>
            <a:off x="5443205" y="6159924"/>
            <a:ext cx="530725" cy="530725"/>
          </a:xfrm>
          <a:prstGeom prst="rect">
            <a:avLst/>
          </a:prstGeom>
          <a:noFill/>
          <a:ln>
            <a:noFill/>
          </a:ln>
        </p:spPr>
      </p:pic>
      <p:pic>
        <p:nvPicPr>
          <p:cNvPr id="70" name="Google Shape;70;p14"/>
          <p:cNvPicPr preferRelativeResize="0"/>
          <p:nvPr/>
        </p:nvPicPr>
        <p:blipFill>
          <a:blip r:embed="rId9">
            <a:alphaModFix/>
          </a:blip>
          <a:stretch>
            <a:fillRect/>
          </a:stretch>
        </p:blipFill>
        <p:spPr>
          <a:xfrm>
            <a:off x="851407" y="7231581"/>
            <a:ext cx="539564" cy="530725"/>
          </a:xfrm>
          <a:prstGeom prst="rect">
            <a:avLst/>
          </a:prstGeom>
          <a:noFill/>
          <a:ln>
            <a:noFill/>
          </a:ln>
        </p:spPr>
      </p:pic>
      <p:pic>
        <p:nvPicPr>
          <p:cNvPr id="71" name="Google Shape;71;p14"/>
          <p:cNvPicPr preferRelativeResize="0"/>
          <p:nvPr/>
        </p:nvPicPr>
        <p:blipFill>
          <a:blip r:embed="rId10">
            <a:alphaModFix/>
          </a:blip>
          <a:stretch>
            <a:fillRect/>
          </a:stretch>
        </p:blipFill>
        <p:spPr>
          <a:xfrm>
            <a:off x="3045900" y="4395551"/>
            <a:ext cx="571500" cy="581025"/>
          </a:xfrm>
          <a:prstGeom prst="rect">
            <a:avLst/>
          </a:prstGeom>
          <a:noFill/>
          <a:ln>
            <a:noFill/>
          </a:ln>
        </p:spPr>
      </p:pic>
      <p:pic>
        <p:nvPicPr>
          <p:cNvPr id="72" name="Google Shape;72;p14"/>
          <p:cNvPicPr preferRelativeResize="0"/>
          <p:nvPr/>
        </p:nvPicPr>
        <p:blipFill>
          <a:blip r:embed="rId11">
            <a:alphaModFix/>
          </a:blip>
          <a:stretch>
            <a:fillRect/>
          </a:stretch>
        </p:blipFill>
        <p:spPr>
          <a:xfrm>
            <a:off x="0" y="5448176"/>
            <a:ext cx="581025" cy="581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5"/>
          <p:cNvPicPr preferRelativeResize="0"/>
          <p:nvPr/>
        </p:nvPicPr>
        <p:blipFill>
          <a:blip r:embed="rId3">
            <a:alphaModFix/>
          </a:blip>
          <a:stretch>
            <a:fillRect/>
          </a:stretch>
        </p:blipFill>
        <p:spPr>
          <a:xfrm>
            <a:off x="313990" y="1437275"/>
            <a:ext cx="6934125" cy="5350132"/>
          </a:xfrm>
          <a:prstGeom prst="rect">
            <a:avLst/>
          </a:prstGeom>
          <a:noFill/>
          <a:ln>
            <a:noFill/>
          </a:ln>
        </p:spPr>
      </p:pic>
      <p:sp>
        <p:nvSpPr>
          <p:cNvPr id="78" name="Google Shape;78;p15"/>
          <p:cNvSpPr txBox="1"/>
          <p:nvPr/>
        </p:nvSpPr>
        <p:spPr>
          <a:xfrm>
            <a:off x="534700" y="607675"/>
            <a:ext cx="6469500" cy="132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
                <a:solidFill>
                  <a:schemeClr val="dk2"/>
                </a:solidFill>
              </a:rPr>
              <a:t>Click </a:t>
            </a:r>
            <a:r>
              <a:rPr b="1" lang="sv">
                <a:solidFill>
                  <a:srgbClr val="FF9900"/>
                </a:solidFill>
              </a:rPr>
              <a:t>(9)</a:t>
            </a:r>
            <a:r>
              <a:rPr lang="sv">
                <a:solidFill>
                  <a:schemeClr val="dk2"/>
                </a:solidFill>
              </a:rPr>
              <a:t> to select/unselect for training. Blue underline means fly and gray means background. Make sure they match what is actually in the crops. </a:t>
            </a:r>
            <a:endParaRPr>
              <a:solidFill>
                <a:schemeClr val="dk2"/>
              </a:solidFill>
            </a:endParaRPr>
          </a:p>
        </p:txBody>
      </p:sp>
      <p:pic>
        <p:nvPicPr>
          <p:cNvPr id="79" name="Google Shape;79;p15"/>
          <p:cNvPicPr preferRelativeResize="0"/>
          <p:nvPr/>
        </p:nvPicPr>
        <p:blipFill>
          <a:blip r:embed="rId4">
            <a:alphaModFix/>
          </a:blip>
          <a:stretch>
            <a:fillRect/>
          </a:stretch>
        </p:blipFill>
        <p:spPr>
          <a:xfrm>
            <a:off x="2782625" y="4094613"/>
            <a:ext cx="494925" cy="494925"/>
          </a:xfrm>
          <a:prstGeom prst="rect">
            <a:avLst/>
          </a:prstGeom>
          <a:noFill/>
          <a:ln>
            <a:noFill/>
          </a:ln>
        </p:spPr>
      </p:pic>
      <p:sp>
        <p:nvSpPr>
          <p:cNvPr id="80" name="Google Shape;80;p15"/>
          <p:cNvSpPr txBox="1"/>
          <p:nvPr>
            <p:ph idx="1" type="body"/>
          </p:nvPr>
        </p:nvSpPr>
        <p:spPr>
          <a:xfrm>
            <a:off x="257850" y="7318676"/>
            <a:ext cx="7046400" cy="17931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None/>
            </a:pPr>
            <a:r>
              <a:rPr lang="sv" sz="1400"/>
              <a:t>The model benefits from more data if it is high quality. Review the output thoroughly to ensure the best training data. It is recommended that you don’t train with less than 500 images/crops as it can lead to catastrophic degradation of the model. 500 should be view as the minimum amount and further increasing the amount of data will be beneficial. </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6"/>
          <p:cNvPicPr preferRelativeResize="0"/>
          <p:nvPr/>
        </p:nvPicPr>
        <p:blipFill>
          <a:blip r:embed="rId3">
            <a:alphaModFix/>
          </a:blip>
          <a:stretch>
            <a:fillRect/>
          </a:stretch>
        </p:blipFill>
        <p:spPr>
          <a:xfrm>
            <a:off x="380300" y="7602200"/>
            <a:ext cx="6801504" cy="2090297"/>
          </a:xfrm>
          <a:prstGeom prst="rect">
            <a:avLst/>
          </a:prstGeom>
          <a:noFill/>
          <a:ln>
            <a:noFill/>
          </a:ln>
        </p:spPr>
      </p:pic>
      <p:sp>
        <p:nvSpPr>
          <p:cNvPr id="86" name="Google Shape;86;p16"/>
          <p:cNvSpPr txBox="1"/>
          <p:nvPr/>
        </p:nvSpPr>
        <p:spPr>
          <a:xfrm>
            <a:off x="380300" y="7075100"/>
            <a:ext cx="3905400" cy="10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
                <a:solidFill>
                  <a:schemeClr val="dk2"/>
                </a:solidFill>
              </a:rPr>
              <a:t>Click </a:t>
            </a:r>
            <a:r>
              <a:rPr b="1" lang="sv">
                <a:solidFill>
                  <a:srgbClr val="FF9900"/>
                </a:solidFill>
              </a:rPr>
              <a:t>(16)</a:t>
            </a:r>
            <a:r>
              <a:rPr lang="sv">
                <a:solidFill>
                  <a:schemeClr val="dk2"/>
                </a:solidFill>
              </a:rPr>
              <a:t> to view training stats.</a:t>
            </a:r>
            <a:endParaRPr>
              <a:solidFill>
                <a:schemeClr val="dk2"/>
              </a:solidFill>
            </a:endParaRPr>
          </a:p>
        </p:txBody>
      </p:sp>
      <p:pic>
        <p:nvPicPr>
          <p:cNvPr id="87" name="Google Shape;87;p16"/>
          <p:cNvPicPr preferRelativeResize="0"/>
          <p:nvPr/>
        </p:nvPicPr>
        <p:blipFill rotWithShape="1">
          <a:blip r:embed="rId4">
            <a:alphaModFix/>
          </a:blip>
          <a:srcRect b="0" l="0" r="0" t="5580"/>
          <a:stretch/>
        </p:blipFill>
        <p:spPr>
          <a:xfrm>
            <a:off x="6534100" y="8107800"/>
            <a:ext cx="524182" cy="524050"/>
          </a:xfrm>
          <a:prstGeom prst="rect">
            <a:avLst/>
          </a:prstGeom>
          <a:noFill/>
          <a:ln>
            <a:noFill/>
          </a:ln>
        </p:spPr>
      </p:pic>
      <p:pic>
        <p:nvPicPr>
          <p:cNvPr id="88" name="Google Shape;88;p16"/>
          <p:cNvPicPr preferRelativeResize="0"/>
          <p:nvPr/>
        </p:nvPicPr>
        <p:blipFill>
          <a:blip r:embed="rId5">
            <a:alphaModFix/>
          </a:blip>
          <a:stretch>
            <a:fillRect/>
          </a:stretch>
        </p:blipFill>
        <p:spPr>
          <a:xfrm>
            <a:off x="152388" y="2536850"/>
            <a:ext cx="7257300" cy="2148660"/>
          </a:xfrm>
          <a:prstGeom prst="rect">
            <a:avLst/>
          </a:prstGeom>
          <a:noFill/>
          <a:ln>
            <a:noFill/>
          </a:ln>
        </p:spPr>
      </p:pic>
      <p:pic>
        <p:nvPicPr>
          <p:cNvPr id="89" name="Google Shape;89;p16"/>
          <p:cNvPicPr preferRelativeResize="0"/>
          <p:nvPr/>
        </p:nvPicPr>
        <p:blipFill>
          <a:blip r:embed="rId6">
            <a:alphaModFix/>
          </a:blip>
          <a:stretch>
            <a:fillRect/>
          </a:stretch>
        </p:blipFill>
        <p:spPr>
          <a:xfrm>
            <a:off x="152388" y="2684113"/>
            <a:ext cx="494925" cy="494925"/>
          </a:xfrm>
          <a:prstGeom prst="rect">
            <a:avLst/>
          </a:prstGeom>
          <a:noFill/>
          <a:ln>
            <a:noFill/>
          </a:ln>
        </p:spPr>
      </p:pic>
      <p:pic>
        <p:nvPicPr>
          <p:cNvPr id="90" name="Google Shape;90;p16"/>
          <p:cNvPicPr preferRelativeResize="0"/>
          <p:nvPr/>
        </p:nvPicPr>
        <p:blipFill>
          <a:blip r:embed="rId7">
            <a:alphaModFix/>
          </a:blip>
          <a:stretch>
            <a:fillRect/>
          </a:stretch>
        </p:blipFill>
        <p:spPr>
          <a:xfrm>
            <a:off x="3594838" y="2454775"/>
            <a:ext cx="494925" cy="524038"/>
          </a:xfrm>
          <a:prstGeom prst="rect">
            <a:avLst/>
          </a:prstGeom>
          <a:noFill/>
          <a:ln>
            <a:noFill/>
          </a:ln>
        </p:spPr>
      </p:pic>
      <p:pic>
        <p:nvPicPr>
          <p:cNvPr id="91" name="Google Shape;91;p16"/>
          <p:cNvPicPr preferRelativeResize="0"/>
          <p:nvPr/>
        </p:nvPicPr>
        <p:blipFill>
          <a:blip r:embed="rId8">
            <a:alphaModFix/>
          </a:blip>
          <a:stretch>
            <a:fillRect/>
          </a:stretch>
        </p:blipFill>
        <p:spPr>
          <a:xfrm>
            <a:off x="61238" y="3708363"/>
            <a:ext cx="494925" cy="494925"/>
          </a:xfrm>
          <a:prstGeom prst="rect">
            <a:avLst/>
          </a:prstGeom>
          <a:noFill/>
          <a:ln>
            <a:noFill/>
          </a:ln>
        </p:spPr>
      </p:pic>
      <p:pic>
        <p:nvPicPr>
          <p:cNvPr id="92" name="Google Shape;92;p16"/>
          <p:cNvPicPr preferRelativeResize="0"/>
          <p:nvPr/>
        </p:nvPicPr>
        <p:blipFill>
          <a:blip r:embed="rId9">
            <a:alphaModFix/>
          </a:blip>
          <a:stretch>
            <a:fillRect/>
          </a:stretch>
        </p:blipFill>
        <p:spPr>
          <a:xfrm>
            <a:off x="2145113" y="3901125"/>
            <a:ext cx="494925" cy="488145"/>
          </a:xfrm>
          <a:prstGeom prst="rect">
            <a:avLst/>
          </a:prstGeom>
          <a:noFill/>
          <a:ln>
            <a:noFill/>
          </a:ln>
        </p:spPr>
      </p:pic>
      <p:pic>
        <p:nvPicPr>
          <p:cNvPr id="93" name="Google Shape;93;p16"/>
          <p:cNvPicPr preferRelativeResize="0"/>
          <p:nvPr/>
        </p:nvPicPr>
        <p:blipFill>
          <a:blip r:embed="rId10">
            <a:alphaModFix/>
          </a:blip>
          <a:stretch>
            <a:fillRect/>
          </a:stretch>
        </p:blipFill>
        <p:spPr>
          <a:xfrm>
            <a:off x="3594838" y="3963888"/>
            <a:ext cx="494925" cy="494925"/>
          </a:xfrm>
          <a:prstGeom prst="rect">
            <a:avLst/>
          </a:prstGeom>
          <a:noFill/>
          <a:ln>
            <a:noFill/>
          </a:ln>
        </p:spPr>
      </p:pic>
      <p:pic>
        <p:nvPicPr>
          <p:cNvPr id="94" name="Google Shape;94;p16"/>
          <p:cNvPicPr preferRelativeResize="0"/>
          <p:nvPr/>
        </p:nvPicPr>
        <p:blipFill rotWithShape="1">
          <a:blip r:embed="rId11">
            <a:alphaModFix/>
          </a:blip>
          <a:srcRect b="3726" l="0" r="0" t="0"/>
          <a:stretch/>
        </p:blipFill>
        <p:spPr>
          <a:xfrm>
            <a:off x="7128438" y="4389275"/>
            <a:ext cx="494925" cy="476475"/>
          </a:xfrm>
          <a:prstGeom prst="rect">
            <a:avLst/>
          </a:prstGeom>
          <a:no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pic>
      <p:sp>
        <p:nvSpPr>
          <p:cNvPr id="95" name="Google Shape;95;p16"/>
          <p:cNvSpPr txBox="1"/>
          <p:nvPr/>
        </p:nvSpPr>
        <p:spPr>
          <a:xfrm>
            <a:off x="319050" y="4951850"/>
            <a:ext cx="6924000" cy="21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
                <a:solidFill>
                  <a:schemeClr val="dk2"/>
                </a:solidFill>
              </a:rPr>
              <a:t>Further information on the settings. High amount of epochs is good for large datasets due to the model requiring more epochs in order to learn a lot of data. However, if the dataset is small alot of epoch can lead to overfitting. The Train/val/Test split should generally stay around these percentages. It is recommended that the image slice size is kept at the size the model was trained on.     In the case of this system the initial model was trained on 640</a:t>
            </a:r>
            <a:endParaRPr>
              <a:solidFill>
                <a:schemeClr val="dk2"/>
              </a:solidFill>
            </a:endParaRPr>
          </a:p>
        </p:txBody>
      </p:sp>
      <p:sp>
        <p:nvSpPr>
          <p:cNvPr id="96" name="Google Shape;96;p16"/>
          <p:cNvSpPr txBox="1"/>
          <p:nvPr/>
        </p:nvSpPr>
        <p:spPr>
          <a:xfrm>
            <a:off x="216750" y="861775"/>
            <a:ext cx="7128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sv">
                <a:solidFill>
                  <a:srgbClr val="FF9900"/>
                </a:solidFill>
              </a:rPr>
              <a:t>(10)</a:t>
            </a:r>
            <a:r>
              <a:rPr lang="sv">
                <a:solidFill>
                  <a:schemeClr val="dk2"/>
                </a:solidFill>
              </a:rPr>
              <a:t> Increase for bigger datasets. </a:t>
            </a:r>
            <a:r>
              <a:rPr b="1" lang="sv">
                <a:solidFill>
                  <a:srgbClr val="FF9900"/>
                </a:solidFill>
              </a:rPr>
              <a:t>(11)</a:t>
            </a:r>
            <a:r>
              <a:rPr lang="sv">
                <a:solidFill>
                  <a:schemeClr val="dk2"/>
                </a:solidFill>
              </a:rPr>
              <a:t>Train/val/test % change the % of images used for each category. Tick </a:t>
            </a:r>
            <a:r>
              <a:rPr b="1" lang="sv">
                <a:solidFill>
                  <a:srgbClr val="FF9900"/>
                </a:solidFill>
              </a:rPr>
              <a:t>(12)</a:t>
            </a:r>
            <a:r>
              <a:rPr lang="sv">
                <a:solidFill>
                  <a:schemeClr val="dk2"/>
                </a:solidFill>
              </a:rPr>
              <a:t> to keep class distribution equal in the splits.</a:t>
            </a:r>
            <a:r>
              <a:rPr b="1" lang="sv">
                <a:solidFill>
                  <a:srgbClr val="FF9900"/>
                </a:solidFill>
              </a:rPr>
              <a:t>(13)</a:t>
            </a:r>
            <a:r>
              <a:rPr lang="sv">
                <a:solidFill>
                  <a:schemeClr val="dk2"/>
                </a:solidFill>
              </a:rPr>
              <a:t> Name the output model. </a:t>
            </a:r>
            <a:r>
              <a:rPr b="1" lang="sv">
                <a:solidFill>
                  <a:srgbClr val="FF9900"/>
                </a:solidFill>
              </a:rPr>
              <a:t>(14)</a:t>
            </a:r>
            <a:r>
              <a:rPr lang="sv">
                <a:solidFill>
                  <a:schemeClr val="dk2"/>
                </a:solidFill>
              </a:rPr>
              <a:t> Adjust the image slice size. </a:t>
            </a:r>
            <a:r>
              <a:rPr b="1" lang="sv">
                <a:solidFill>
                  <a:srgbClr val="FF9900"/>
                </a:solidFill>
              </a:rPr>
              <a:t>(15)</a:t>
            </a:r>
            <a:r>
              <a:rPr lang="sv">
                <a:solidFill>
                  <a:schemeClr val="dk2"/>
                </a:solidFill>
              </a:rPr>
              <a:t> Begins the retraining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